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280" y="-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yadh Shihab Hameed Al-Naseri" userId="333fa498-e73a-479e-81ef-7cc4aac0366c" providerId="ADAL" clId="{30E9C6F4-6621-44A6-A732-E629C0557E5B}"/>
    <pc:docChg chg="modSld">
      <pc:chgData name="Riyadh Shihab Hameed Al-Naseri" userId="333fa498-e73a-479e-81ef-7cc4aac0366c" providerId="ADAL" clId="{30E9C6F4-6621-44A6-A732-E629C0557E5B}" dt="2024-05-02T01:58:33.389" v="2" actId="1036"/>
      <pc:docMkLst>
        <pc:docMk/>
      </pc:docMkLst>
      <pc:sldChg chg="modSp mod">
        <pc:chgData name="Riyadh Shihab Hameed Al-Naseri" userId="333fa498-e73a-479e-81ef-7cc4aac0366c" providerId="ADAL" clId="{30E9C6F4-6621-44A6-A732-E629C0557E5B}" dt="2024-05-02T01:58:33.389" v="2" actId="1036"/>
        <pc:sldMkLst>
          <pc:docMk/>
          <pc:sldMk cId="0" sldId="264"/>
        </pc:sldMkLst>
        <pc:spChg chg="mod">
          <ac:chgData name="Riyadh Shihab Hameed Al-Naseri" userId="333fa498-e73a-479e-81ef-7cc4aac0366c" providerId="ADAL" clId="{30E9C6F4-6621-44A6-A732-E629C0557E5B}" dt="2024-05-02T01:58:33.389" v="2" actId="1036"/>
          <ac:spMkLst>
            <pc:docMk/>
            <pc:sldMk cId="0" sldId="264"/>
            <ac:spMk id="18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1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AU" sz="4400" b="0" strike="noStrike" spc="-1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  <p:sp>
        <p:nvSpPr>
          <p:cNvPr id="158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powerpoint–slide1.jpg"/>
          <p:cNvPicPr/>
          <p:nvPr/>
        </p:nvPicPr>
        <p:blipFill>
          <a:blip r:embed="rId14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AU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" descr="powerpoint-slide2-bottom 552px.png"/>
          <p:cNvPicPr/>
          <p:nvPr/>
        </p:nvPicPr>
        <p:blipFill>
          <a:blip r:embed="rId14"/>
          <a:stretch/>
        </p:blipFill>
        <p:spPr>
          <a:xfrm>
            <a:off x="3886200" y="6267600"/>
            <a:ext cx="5257080" cy="589680"/>
          </a:xfrm>
          <a:prstGeom prst="rect">
            <a:avLst/>
          </a:prstGeom>
          <a:ln>
            <a:noFill/>
          </a:ln>
        </p:spPr>
      </p:pic>
      <p:pic>
        <p:nvPicPr>
          <p:cNvPr id="40" name="Picture 4" descr="tern logo.jpg"/>
          <p:cNvPicPr/>
          <p:nvPr/>
        </p:nvPicPr>
        <p:blipFill>
          <a:blip r:embed="rId15"/>
          <a:stretch/>
        </p:blipFill>
        <p:spPr>
          <a:xfrm>
            <a:off x="179280" y="6165720"/>
            <a:ext cx="565920" cy="523080"/>
          </a:xfrm>
          <a:prstGeom prst="rect">
            <a:avLst/>
          </a:prstGeom>
          <a:ln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AU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3" descr="powerpoint-slide2-bottom 552px.png"/>
          <p:cNvPicPr/>
          <p:nvPr/>
        </p:nvPicPr>
        <p:blipFill>
          <a:blip r:embed="rId14"/>
          <a:stretch/>
        </p:blipFill>
        <p:spPr>
          <a:xfrm>
            <a:off x="3886200" y="6267600"/>
            <a:ext cx="5257080" cy="589680"/>
          </a:xfrm>
          <a:prstGeom prst="rect">
            <a:avLst/>
          </a:prstGeom>
          <a:ln>
            <a:noFill/>
          </a:ln>
        </p:spPr>
      </p:pic>
      <p:pic>
        <p:nvPicPr>
          <p:cNvPr id="80" name="Picture 4" descr="tern logo.jpg"/>
          <p:cNvPicPr/>
          <p:nvPr/>
        </p:nvPicPr>
        <p:blipFill>
          <a:blip r:embed="rId15"/>
          <a:stretch/>
        </p:blipFill>
        <p:spPr>
          <a:xfrm>
            <a:off x="179280" y="6165720"/>
            <a:ext cx="565920" cy="523080"/>
          </a:xfrm>
          <a:prstGeom prst="rect">
            <a:avLst/>
          </a:prstGeom>
          <a:ln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AU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3" descr="powerpoint-slide2-bottom 552px.png"/>
          <p:cNvPicPr/>
          <p:nvPr/>
        </p:nvPicPr>
        <p:blipFill>
          <a:blip r:embed="rId14"/>
          <a:stretch/>
        </p:blipFill>
        <p:spPr>
          <a:xfrm>
            <a:off x="3886200" y="6267600"/>
            <a:ext cx="5257080" cy="589680"/>
          </a:xfrm>
          <a:prstGeom prst="rect">
            <a:avLst/>
          </a:prstGeom>
          <a:ln>
            <a:noFill/>
          </a:ln>
        </p:spPr>
      </p:pic>
      <p:pic>
        <p:nvPicPr>
          <p:cNvPr id="120" name="Picture 4" descr="tern logo.jpg"/>
          <p:cNvPicPr/>
          <p:nvPr/>
        </p:nvPicPr>
        <p:blipFill>
          <a:blip r:embed="rId15"/>
          <a:stretch/>
        </p:blipFill>
        <p:spPr>
          <a:xfrm>
            <a:off x="179280" y="6165720"/>
            <a:ext cx="565920" cy="523080"/>
          </a:xfrm>
          <a:prstGeom prst="rect">
            <a:avLst/>
          </a:prstGeom>
          <a:ln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AU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AU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AU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OzFlux/PyFluxPro.git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543960" y="2751120"/>
            <a:ext cx="7771680" cy="146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An Introduction to PyFluxPro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160" name="CustomShape 2"/>
          <p:cNvSpPr/>
          <p:nvPr/>
        </p:nvSpPr>
        <p:spPr>
          <a:xfrm>
            <a:off x="539640" y="4365000"/>
            <a:ext cx="7128000" cy="100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Peter Isaac, James Cleverly, Ian McHugh and Cacilia Ewenz</a:t>
            </a:r>
            <a:endParaRPr lang="en-AU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Overview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162" name="CustomShape 2"/>
          <p:cNvSpPr/>
          <p:nvPr/>
        </p:nvSpPr>
        <p:spPr>
          <a:xfrm>
            <a:off x="1835640" y="1484640"/>
            <a:ext cx="5410080" cy="4348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Description of PyFluxPro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Processing levels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Quality control checks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Post-processing corrections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Gap filling strategies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Partitioning strategies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Plotting routines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File conversion abilities</a:t>
            </a:r>
            <a:endParaRPr lang="en-AU" sz="3200" b="0" strike="noStrike" spc="-1">
              <a:latin typeface="Arial"/>
            </a:endParaRPr>
          </a:p>
        </p:txBody>
      </p:sp>
      <p:pic>
        <p:nvPicPr>
          <p:cNvPr id="163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AU" sz="4000" b="1" strike="noStrike" cap="all" spc="-1">
                <a:solidFill>
                  <a:srgbClr val="5D6B30"/>
                </a:solidFill>
                <a:latin typeface="Arial"/>
              </a:rPr>
              <a:t>PYfluxPRO overview</a:t>
            </a:r>
            <a:endParaRPr lang="en-AU" sz="4000" b="0" strike="noStrike" spc="-1">
              <a:latin typeface="Arial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Why PyFluxPro?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167" name="CustomShape 2"/>
          <p:cNvSpPr/>
          <p:nvPr/>
        </p:nvSpPr>
        <p:spPr>
          <a:xfrm>
            <a:off x="683640" y="1484640"/>
            <a:ext cx="7714440" cy="410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The global flux tower community needs a QC and post-processing system;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Make individual wisdom available to many.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Standardise procedures across the network.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Allow users to interact with data.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Make repeat processing easy.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Self-documenting.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Easy to maintain.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Free.</a:t>
            </a:r>
            <a:endParaRPr lang="en-AU" sz="2400" b="0" strike="noStrike" spc="-1">
              <a:latin typeface="Arial"/>
            </a:endParaRPr>
          </a:p>
        </p:txBody>
      </p:sp>
      <p:pic>
        <p:nvPicPr>
          <p:cNvPr id="168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1691640" y="260640"/>
            <a:ext cx="3466080" cy="99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Description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539640" y="1484640"/>
            <a:ext cx="7786440" cy="456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PyFluxPro began as OzFluxQC in 2011.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Suite of </a:t>
            </a: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Python</a:t>
            </a: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 routines consisting of &gt;10,000 lines of code integrated into a single GUI.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GUI provides access to QC and post-processing routines, gap filling, partitioning and plotting.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Not a program for processing turbulence data.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Code is open source.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Data formats are netCDF, Excel and CSV.</a:t>
            </a:r>
            <a:endParaRPr lang="en-AU" sz="2800" b="0" strike="noStrike" spc="-1">
              <a:latin typeface="Arial"/>
            </a:endParaRPr>
          </a:p>
        </p:txBody>
      </p:sp>
      <p:pic>
        <p:nvPicPr>
          <p:cNvPr id="171" name="Picture 5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2843640" y="188640"/>
            <a:ext cx="3538080" cy="99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Philosophy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173" name="CustomShape 2"/>
          <p:cNvSpPr/>
          <p:nvPr/>
        </p:nvSpPr>
        <p:spPr>
          <a:xfrm>
            <a:off x="467640" y="1196640"/>
            <a:ext cx="8228880" cy="4640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Minimise the time spent processing data.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Make it easy to repeat the processing.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Encourage interaction with the data.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Use best features of computers and humans;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Humans are excellent at pattern recognition but bad at doing boring tasks.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Computers are excellent at boring tasks but difficult to program for pattern recognition.</a:t>
            </a:r>
            <a:endParaRPr lang="en-AU" sz="2800" b="0" strike="noStrike" spc="-1">
              <a:latin typeface="Arial"/>
            </a:endParaRPr>
          </a:p>
        </p:txBody>
      </p:sp>
      <p:pic>
        <p:nvPicPr>
          <p:cNvPr id="174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2555640" y="116640"/>
            <a:ext cx="3959640" cy="71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PyFluxPro GUI</a:t>
            </a:r>
            <a:endParaRPr lang="en-AU" sz="4400" b="0" strike="noStrike" spc="-1">
              <a:latin typeface="Arial"/>
            </a:endParaRPr>
          </a:p>
        </p:txBody>
      </p:sp>
      <p:pic>
        <p:nvPicPr>
          <p:cNvPr id="176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  <p:pic>
        <p:nvPicPr>
          <p:cNvPr id="177" name="Picture 5"/>
          <p:cNvPicPr/>
          <p:nvPr/>
        </p:nvPicPr>
        <p:blipFill>
          <a:blip r:embed="rId3"/>
          <a:stretch/>
        </p:blipFill>
        <p:spPr>
          <a:xfrm>
            <a:off x="251640" y="963720"/>
            <a:ext cx="4071600" cy="5759280"/>
          </a:xfrm>
          <a:prstGeom prst="rect">
            <a:avLst/>
          </a:prstGeom>
          <a:ln>
            <a:noFill/>
          </a:ln>
        </p:spPr>
      </p:pic>
      <p:pic>
        <p:nvPicPr>
          <p:cNvPr id="178" name="Picture 6"/>
          <p:cNvPicPr/>
          <p:nvPr/>
        </p:nvPicPr>
        <p:blipFill>
          <a:blip r:embed="rId4"/>
          <a:stretch/>
        </p:blipFill>
        <p:spPr>
          <a:xfrm>
            <a:off x="4932000" y="963720"/>
            <a:ext cx="4071600" cy="5759280"/>
          </a:xfrm>
          <a:prstGeom prst="rect">
            <a:avLst/>
          </a:prstGeom>
          <a:ln>
            <a:noFill/>
          </a:ln>
        </p:spPr>
      </p:pic>
      <p:sp>
        <p:nvSpPr>
          <p:cNvPr id="179" name="CustomShape 2"/>
          <p:cNvSpPr/>
          <p:nvPr/>
        </p:nvSpPr>
        <p:spPr>
          <a:xfrm>
            <a:off x="395640" y="476640"/>
            <a:ext cx="15811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AU" sz="1800" b="0" strike="noStrike" spc="-1">
                <a:solidFill>
                  <a:srgbClr val="5D6B30"/>
                </a:solidFill>
                <a:latin typeface="Arial"/>
                <a:ea typeface="DejaVu Sans"/>
              </a:rPr>
              <a:t>Log window</a:t>
            </a:r>
            <a:endParaRPr lang="en-AU" sz="1800" b="0" strike="noStrike" spc="-1">
              <a:latin typeface="Arial"/>
            </a:endParaRPr>
          </a:p>
        </p:txBody>
      </p:sp>
      <p:sp>
        <p:nvSpPr>
          <p:cNvPr id="180" name="CustomShape 3"/>
          <p:cNvSpPr/>
          <p:nvPr/>
        </p:nvSpPr>
        <p:spPr>
          <a:xfrm>
            <a:off x="7236360" y="476640"/>
            <a:ext cx="15811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AU" sz="1800" b="0" strike="noStrike" spc="-1">
                <a:solidFill>
                  <a:srgbClr val="5D6B30"/>
                </a:solidFill>
                <a:latin typeface="Arial"/>
                <a:ea typeface="DejaVu Sans"/>
              </a:rPr>
              <a:t>Gap filling L5</a:t>
            </a:r>
            <a:endParaRPr lang="en-A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Installation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182" name="CustomShape 2"/>
          <p:cNvSpPr/>
          <p:nvPr/>
        </p:nvSpPr>
        <p:spPr>
          <a:xfrm>
            <a:off x="539640" y="1484640"/>
            <a:ext cx="793044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2000"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Python 3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Miniconda or Anaconda Python distribution recommended.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Create a virtual environment using the supplied environment.yml file.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PyFluxPro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Scripts available from GitHub.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u="sng" strike="noStrike" spc="-1">
                <a:solidFill>
                  <a:srgbClr val="616B30"/>
                </a:solidFill>
                <a:uFillTx/>
                <a:latin typeface="Arial"/>
                <a:hlinkClick r:id="rId2"/>
              </a:rPr>
              <a:t>https://</a:t>
            </a:r>
            <a:r>
              <a:rPr lang="en-AU" sz="2800" b="0" u="sng" strike="noStrike" spc="-1">
                <a:solidFill>
                  <a:srgbClr val="616B30"/>
                </a:solidFill>
                <a:uFillTx/>
                <a:latin typeface="Arial"/>
                <a:hlinkClick r:id="rId2"/>
              </a:rPr>
              <a:t>github.com/OzFlux/PyFluxPro.git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“git” recommended for initial cloning and subsequent updates.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Released under BSD 3-clause license.</a:t>
            </a:r>
            <a:endParaRPr lang="en-AU" sz="2800" b="0" strike="noStrike" spc="-1">
              <a:latin typeface="Arial"/>
            </a:endParaRPr>
          </a:p>
        </p:txBody>
      </p:sp>
      <p:pic>
        <p:nvPicPr>
          <p:cNvPr id="183" name="Picture 4"/>
          <p:cNvPicPr/>
          <p:nvPr/>
        </p:nvPicPr>
        <p:blipFill>
          <a:blip r:embed="rId3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ustomShape 1"/>
          <p:cNvSpPr/>
          <p:nvPr/>
        </p:nvSpPr>
        <p:spPr>
          <a:xfrm>
            <a:off x="2699640" y="260640"/>
            <a:ext cx="4258080" cy="849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Input Data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185" name="CustomShape 2"/>
          <p:cNvSpPr/>
          <p:nvPr/>
        </p:nvSpPr>
        <p:spPr>
          <a:xfrm>
            <a:off x="467640" y="1153515"/>
            <a:ext cx="8228880" cy="482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Meteorological and soil data from towers.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Fluxes from 2 sources;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Covariances output by logger;</a:t>
            </a:r>
            <a:endParaRPr lang="en-AU" sz="28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Fluxes calculated from covariances.</a:t>
            </a:r>
            <a:endParaRPr lang="en-AU" sz="24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Less work than processing turbulence data.</a:t>
            </a:r>
            <a:endParaRPr lang="en-AU" sz="24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Less control over some QC steps.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Fluxes output by EddyPro or similar</a:t>
            </a:r>
            <a:endParaRPr lang="en-AU" sz="28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The purist’s approach.</a:t>
            </a:r>
            <a:endParaRPr lang="en-AU" sz="24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More work but more control over processing.</a:t>
            </a:r>
            <a:endParaRPr lang="en-AU" sz="24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Able to test for stationarity in nocturnal fluxes.</a:t>
            </a:r>
            <a:endParaRPr lang="en-AU" sz="2400" b="0" strike="noStrike" spc="-1">
              <a:latin typeface="Arial"/>
            </a:endParaRPr>
          </a:p>
        </p:txBody>
      </p:sp>
      <p:pic>
        <p:nvPicPr>
          <p:cNvPr id="186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Processing Levels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188" name="CustomShape 2"/>
          <p:cNvSpPr/>
          <p:nvPr/>
        </p:nvSpPr>
        <p:spPr>
          <a:xfrm>
            <a:off x="755640" y="1628640"/>
            <a:ext cx="7704000" cy="406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L1 – convert from XLS or CSV to netCDF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L2 – Quality control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L3 – Post-processing 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L4 – Gap filling of meteorology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L5 – Gap filling of fluxes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L6 – Partitioning NEE into GPP and ER</a:t>
            </a:r>
            <a:endParaRPr lang="en-AU" sz="3200" b="0" strike="noStrike" spc="-1">
              <a:latin typeface="Arial"/>
            </a:endParaRPr>
          </a:p>
        </p:txBody>
      </p:sp>
      <p:pic>
        <p:nvPicPr>
          <p:cNvPr id="189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480960" y="26064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PyFluxPro Data Flow</a:t>
            </a:r>
            <a:endParaRPr lang="en-AU" sz="4400" b="0" strike="noStrike" spc="-1">
              <a:latin typeface="Arial"/>
            </a:endParaRPr>
          </a:p>
        </p:txBody>
      </p:sp>
      <p:grpSp>
        <p:nvGrpSpPr>
          <p:cNvPr id="191" name="Group 2"/>
          <p:cNvGrpSpPr/>
          <p:nvPr/>
        </p:nvGrpSpPr>
        <p:grpSpPr>
          <a:xfrm>
            <a:off x="667440" y="1582560"/>
            <a:ext cx="7682760" cy="4367520"/>
            <a:chOff x="667440" y="1582560"/>
            <a:chExt cx="7682760" cy="4367520"/>
          </a:xfrm>
        </p:grpSpPr>
        <p:sp>
          <p:nvSpPr>
            <p:cNvPr id="192" name="CustomShape 3"/>
            <p:cNvSpPr/>
            <p:nvPr/>
          </p:nvSpPr>
          <p:spPr>
            <a:xfrm>
              <a:off x="667440" y="5337360"/>
              <a:ext cx="1079280" cy="431280"/>
            </a:xfrm>
            <a:prstGeom prst="flowChartProcess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EddyPro</a:t>
              </a:r>
              <a:endParaRPr lang="en-AU" sz="1200" b="0" strike="noStrike" spc="-1">
                <a:latin typeface="Arial"/>
              </a:endParaRPr>
            </a:p>
          </p:txBody>
        </p:sp>
        <p:sp>
          <p:nvSpPr>
            <p:cNvPr id="193" name="CustomShape 4"/>
            <p:cNvSpPr/>
            <p:nvPr/>
          </p:nvSpPr>
          <p:spPr>
            <a:xfrm>
              <a:off x="2535840" y="5158800"/>
              <a:ext cx="955440" cy="791280"/>
            </a:xfrm>
            <a:prstGeom prst="flowChartMulti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Fast data</a:t>
              </a:r>
              <a:endParaRPr lang="en-AU" sz="12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TOB3</a:t>
              </a:r>
              <a:endParaRPr lang="en-AU" sz="1200" b="0" strike="noStrike" spc="-1">
                <a:latin typeface="Arial"/>
              </a:endParaRPr>
            </a:p>
          </p:txBody>
        </p:sp>
        <p:sp>
          <p:nvSpPr>
            <p:cNvPr id="194" name="CustomShape 5"/>
            <p:cNvSpPr/>
            <p:nvPr/>
          </p:nvSpPr>
          <p:spPr>
            <a:xfrm>
              <a:off x="734400" y="4325400"/>
              <a:ext cx="945000" cy="539280"/>
            </a:xfrm>
            <a:prstGeom prst="flowChart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_fulloutput</a:t>
              </a:r>
              <a:endParaRPr lang="en-AU" sz="12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CSV file</a:t>
              </a:r>
              <a:endParaRPr lang="en-AU" sz="1200" b="0" strike="noStrike" spc="-1">
                <a:latin typeface="Arial"/>
              </a:endParaRPr>
            </a:p>
          </p:txBody>
        </p:sp>
        <p:sp>
          <p:nvSpPr>
            <p:cNvPr id="195" name="CustomShape 6"/>
            <p:cNvSpPr/>
            <p:nvPr/>
          </p:nvSpPr>
          <p:spPr>
            <a:xfrm>
              <a:off x="683640" y="2950920"/>
              <a:ext cx="1032120" cy="827280"/>
            </a:xfrm>
            <a:prstGeom prst="flowChart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L1 Excel spreadsheet</a:t>
              </a:r>
              <a:endParaRPr lang="en-AU" sz="1200" b="0" strike="noStrike" spc="-1">
                <a:latin typeface="Arial"/>
              </a:endParaRPr>
            </a:p>
          </p:txBody>
        </p:sp>
        <p:sp>
          <p:nvSpPr>
            <p:cNvPr id="196" name="CustomShape 7"/>
            <p:cNvSpPr/>
            <p:nvPr/>
          </p:nvSpPr>
          <p:spPr>
            <a:xfrm>
              <a:off x="2312640" y="3005640"/>
              <a:ext cx="503280" cy="707400"/>
            </a:xfrm>
            <a:prstGeom prst="flowChartProcess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L1</a:t>
              </a:r>
              <a:endParaRPr lang="en-AU" sz="1200" b="0" strike="noStrike" spc="-1">
                <a:latin typeface="Arial"/>
              </a:endParaRPr>
            </a:p>
          </p:txBody>
        </p:sp>
        <p:sp>
          <p:nvSpPr>
            <p:cNvPr id="197" name="CustomShape 8"/>
            <p:cNvSpPr/>
            <p:nvPr/>
          </p:nvSpPr>
          <p:spPr>
            <a:xfrm>
              <a:off x="766440" y="1628640"/>
              <a:ext cx="1007280" cy="647280"/>
            </a:xfrm>
            <a:prstGeom prst="flowChartMulti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Slow data</a:t>
              </a:r>
              <a:endParaRPr lang="en-AU" sz="12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TOA5</a:t>
              </a:r>
              <a:endParaRPr lang="en-AU" sz="1200" b="0" strike="noStrike" spc="-1">
                <a:latin typeface="Arial"/>
              </a:endParaRPr>
            </a:p>
          </p:txBody>
        </p:sp>
        <p:sp>
          <p:nvSpPr>
            <p:cNvPr id="198" name="CustomShape 9"/>
            <p:cNvSpPr/>
            <p:nvPr/>
          </p:nvSpPr>
          <p:spPr>
            <a:xfrm>
              <a:off x="3368880" y="3005640"/>
              <a:ext cx="503280" cy="707400"/>
            </a:xfrm>
            <a:prstGeom prst="flowChartProcess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L2</a:t>
              </a:r>
              <a:endParaRPr lang="en-AU" sz="1200" b="0" strike="noStrike" spc="-1">
                <a:latin typeface="Arial"/>
              </a:endParaRPr>
            </a:p>
          </p:txBody>
        </p:sp>
        <p:sp>
          <p:nvSpPr>
            <p:cNvPr id="199" name="CustomShape 10"/>
            <p:cNvSpPr/>
            <p:nvPr/>
          </p:nvSpPr>
          <p:spPr>
            <a:xfrm>
              <a:off x="3292200" y="2277000"/>
              <a:ext cx="656640" cy="377640"/>
            </a:xfrm>
            <a:prstGeom prst="flowChart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L2</a:t>
              </a:r>
              <a:endParaRPr lang="en-AU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control file</a:t>
              </a:r>
              <a:endParaRPr lang="en-AU" sz="800" b="0" strike="noStrike" spc="-1">
                <a:latin typeface="Arial"/>
              </a:endParaRPr>
            </a:p>
          </p:txBody>
        </p:sp>
        <p:sp>
          <p:nvSpPr>
            <p:cNvPr id="200" name="CustomShape 11"/>
            <p:cNvSpPr/>
            <p:nvPr/>
          </p:nvSpPr>
          <p:spPr>
            <a:xfrm>
              <a:off x="2238840" y="2277000"/>
              <a:ext cx="650880" cy="377640"/>
            </a:xfrm>
            <a:prstGeom prst="flowChart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L1</a:t>
              </a:r>
              <a:endParaRPr lang="en-AU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control file</a:t>
              </a:r>
              <a:endParaRPr lang="en-AU" sz="800" b="0" strike="noStrike" spc="-1">
                <a:latin typeface="Arial"/>
              </a:endParaRPr>
            </a:p>
          </p:txBody>
        </p:sp>
        <p:sp>
          <p:nvSpPr>
            <p:cNvPr id="201" name="CustomShape 12"/>
            <p:cNvSpPr/>
            <p:nvPr/>
          </p:nvSpPr>
          <p:spPr>
            <a:xfrm flipV="1">
              <a:off x="1716480" y="3358800"/>
              <a:ext cx="595440" cy="46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2" name="CustomShape 13"/>
            <p:cNvSpPr/>
            <p:nvPr/>
          </p:nvSpPr>
          <p:spPr>
            <a:xfrm>
              <a:off x="2564640" y="2630160"/>
              <a:ext cx="360" cy="3744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3" name="CustomShape 14"/>
            <p:cNvSpPr/>
            <p:nvPr/>
          </p:nvSpPr>
          <p:spPr>
            <a:xfrm>
              <a:off x="3620880" y="2630160"/>
              <a:ext cx="360" cy="3744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4" name="CustomShape 15"/>
            <p:cNvSpPr/>
            <p:nvPr/>
          </p:nvSpPr>
          <p:spPr>
            <a:xfrm>
              <a:off x="4392720" y="3005640"/>
              <a:ext cx="503280" cy="707400"/>
            </a:xfrm>
            <a:prstGeom prst="flowChartProcess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L3</a:t>
              </a:r>
              <a:endParaRPr lang="en-AU" sz="1200" b="0" strike="noStrike" spc="-1">
                <a:latin typeface="Arial"/>
              </a:endParaRPr>
            </a:p>
          </p:txBody>
        </p:sp>
        <p:sp>
          <p:nvSpPr>
            <p:cNvPr id="205" name="CustomShape 16"/>
            <p:cNvSpPr/>
            <p:nvPr/>
          </p:nvSpPr>
          <p:spPr>
            <a:xfrm>
              <a:off x="5435280" y="3005640"/>
              <a:ext cx="503280" cy="707400"/>
            </a:xfrm>
            <a:prstGeom prst="flowChartProcess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L4</a:t>
              </a:r>
              <a:endParaRPr lang="en-AU" sz="1200" b="0" strike="noStrike" spc="-1">
                <a:latin typeface="Arial"/>
              </a:endParaRPr>
            </a:p>
          </p:txBody>
        </p:sp>
        <p:sp>
          <p:nvSpPr>
            <p:cNvPr id="206" name="CustomShape 17"/>
            <p:cNvSpPr/>
            <p:nvPr/>
          </p:nvSpPr>
          <p:spPr>
            <a:xfrm>
              <a:off x="5354640" y="2277000"/>
              <a:ext cx="656640" cy="377640"/>
            </a:xfrm>
            <a:prstGeom prst="flowChart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L4 control file</a:t>
              </a:r>
              <a:endParaRPr lang="en-AU" sz="800" b="0" strike="noStrike" spc="-1">
                <a:latin typeface="Arial"/>
              </a:endParaRPr>
            </a:p>
          </p:txBody>
        </p:sp>
        <p:sp>
          <p:nvSpPr>
            <p:cNvPr id="207" name="CustomShape 18"/>
            <p:cNvSpPr/>
            <p:nvPr/>
          </p:nvSpPr>
          <p:spPr>
            <a:xfrm>
              <a:off x="4308480" y="2277000"/>
              <a:ext cx="668160" cy="377640"/>
            </a:xfrm>
            <a:prstGeom prst="flowChart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L3</a:t>
              </a:r>
              <a:endParaRPr lang="en-AU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control file</a:t>
              </a:r>
              <a:endParaRPr lang="en-AU" sz="800" b="0" strike="noStrike" spc="-1">
                <a:latin typeface="Arial"/>
              </a:endParaRPr>
            </a:p>
          </p:txBody>
        </p:sp>
        <p:sp>
          <p:nvSpPr>
            <p:cNvPr id="208" name="CustomShape 19"/>
            <p:cNvSpPr/>
            <p:nvPr/>
          </p:nvSpPr>
          <p:spPr>
            <a:xfrm>
              <a:off x="4642920" y="2630160"/>
              <a:ext cx="1080" cy="3744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9" name="CustomShape 20"/>
            <p:cNvSpPr/>
            <p:nvPr/>
          </p:nvSpPr>
          <p:spPr>
            <a:xfrm>
              <a:off x="5683320" y="2630160"/>
              <a:ext cx="3240" cy="3744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0" name="CustomShape 21"/>
            <p:cNvSpPr/>
            <p:nvPr/>
          </p:nvSpPr>
          <p:spPr>
            <a:xfrm>
              <a:off x="5327280" y="4074480"/>
              <a:ext cx="719280" cy="443880"/>
            </a:xfrm>
            <a:prstGeom prst="flowChart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L4</a:t>
              </a:r>
              <a:endParaRPr lang="en-AU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netCDF</a:t>
              </a:r>
              <a:endParaRPr lang="en-AU" sz="800" b="0" strike="noStrike" spc="-1">
                <a:latin typeface="Arial"/>
              </a:endParaRPr>
            </a:p>
          </p:txBody>
        </p:sp>
        <p:sp>
          <p:nvSpPr>
            <p:cNvPr id="211" name="CustomShape 22"/>
            <p:cNvSpPr/>
            <p:nvPr/>
          </p:nvSpPr>
          <p:spPr>
            <a:xfrm>
              <a:off x="6516360" y="3005640"/>
              <a:ext cx="503280" cy="707400"/>
            </a:xfrm>
            <a:prstGeom prst="flowChartProcess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L5</a:t>
              </a:r>
              <a:endParaRPr lang="en-AU" sz="1200" b="0" strike="noStrike" spc="-1">
                <a:latin typeface="Arial"/>
              </a:endParaRPr>
            </a:p>
          </p:txBody>
        </p:sp>
        <p:sp>
          <p:nvSpPr>
            <p:cNvPr id="212" name="CustomShape 23"/>
            <p:cNvSpPr/>
            <p:nvPr/>
          </p:nvSpPr>
          <p:spPr>
            <a:xfrm>
              <a:off x="6406560" y="4074480"/>
              <a:ext cx="719280" cy="443880"/>
            </a:xfrm>
            <a:prstGeom prst="flowChart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L5</a:t>
              </a:r>
              <a:endParaRPr lang="en-AU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netCDF</a:t>
              </a:r>
              <a:endParaRPr lang="en-AU" sz="800" b="0" strike="noStrike" spc="-1">
                <a:latin typeface="Arial"/>
              </a:endParaRPr>
            </a:p>
          </p:txBody>
        </p:sp>
        <p:sp>
          <p:nvSpPr>
            <p:cNvPr id="213" name="CustomShape 24"/>
            <p:cNvSpPr/>
            <p:nvPr/>
          </p:nvSpPr>
          <p:spPr>
            <a:xfrm>
              <a:off x="7523280" y="3005640"/>
              <a:ext cx="503280" cy="707400"/>
            </a:xfrm>
            <a:prstGeom prst="flowChartProcess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12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L6</a:t>
              </a:r>
              <a:endParaRPr lang="en-AU" sz="1200" b="0" strike="noStrike" spc="-1">
                <a:latin typeface="Arial"/>
              </a:endParaRPr>
            </a:p>
          </p:txBody>
        </p:sp>
        <p:sp>
          <p:nvSpPr>
            <p:cNvPr id="214" name="CustomShape 25"/>
            <p:cNvSpPr/>
            <p:nvPr/>
          </p:nvSpPr>
          <p:spPr>
            <a:xfrm>
              <a:off x="7443720" y="2277000"/>
              <a:ext cx="656640" cy="377640"/>
            </a:xfrm>
            <a:prstGeom prst="flowChart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L6 control file</a:t>
              </a:r>
              <a:endParaRPr lang="en-AU" sz="800" b="0" strike="noStrike" spc="-1">
                <a:latin typeface="Arial"/>
              </a:endParaRPr>
            </a:p>
          </p:txBody>
        </p:sp>
        <p:sp>
          <p:nvSpPr>
            <p:cNvPr id="215" name="CustomShape 26"/>
            <p:cNvSpPr/>
            <p:nvPr/>
          </p:nvSpPr>
          <p:spPr>
            <a:xfrm>
              <a:off x="6427800" y="2277000"/>
              <a:ext cx="658080" cy="377640"/>
            </a:xfrm>
            <a:prstGeom prst="flowChart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L5 control file</a:t>
              </a:r>
              <a:endParaRPr lang="en-AU" sz="800" b="0" strike="noStrike" spc="-1">
                <a:latin typeface="Arial"/>
              </a:endParaRPr>
            </a:p>
          </p:txBody>
        </p:sp>
        <p:sp>
          <p:nvSpPr>
            <p:cNvPr id="216" name="CustomShape 27"/>
            <p:cNvSpPr/>
            <p:nvPr/>
          </p:nvSpPr>
          <p:spPr>
            <a:xfrm>
              <a:off x="6757200" y="2630160"/>
              <a:ext cx="10440" cy="3744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7" name="CustomShape 28"/>
            <p:cNvSpPr/>
            <p:nvPr/>
          </p:nvSpPr>
          <p:spPr>
            <a:xfrm flipH="1">
              <a:off x="6765840" y="3713400"/>
              <a:ext cx="1080" cy="360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8" name="CustomShape 29"/>
            <p:cNvSpPr/>
            <p:nvPr/>
          </p:nvSpPr>
          <p:spPr>
            <a:xfrm>
              <a:off x="7772400" y="2630160"/>
              <a:ext cx="2520" cy="3744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9" name="CustomShape 30"/>
            <p:cNvSpPr/>
            <p:nvPr/>
          </p:nvSpPr>
          <p:spPr>
            <a:xfrm>
              <a:off x="7415280" y="4074480"/>
              <a:ext cx="719280" cy="443880"/>
            </a:xfrm>
            <a:prstGeom prst="flowChart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L6</a:t>
              </a:r>
              <a:endParaRPr lang="en-AU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netCDF</a:t>
              </a:r>
              <a:endParaRPr lang="en-AU" sz="800" b="0" strike="noStrike" spc="-1">
                <a:latin typeface="Arial"/>
              </a:endParaRPr>
            </a:p>
          </p:txBody>
        </p:sp>
        <p:sp>
          <p:nvSpPr>
            <p:cNvPr id="220" name="CustomShape 31"/>
            <p:cNvSpPr/>
            <p:nvPr/>
          </p:nvSpPr>
          <p:spPr>
            <a:xfrm>
              <a:off x="5687280" y="3713400"/>
              <a:ext cx="360" cy="360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1" name="CustomShape 32"/>
            <p:cNvSpPr/>
            <p:nvPr/>
          </p:nvSpPr>
          <p:spPr>
            <a:xfrm>
              <a:off x="7775640" y="3713400"/>
              <a:ext cx="360" cy="360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2" name="CustomShape 33"/>
            <p:cNvSpPr/>
            <p:nvPr/>
          </p:nvSpPr>
          <p:spPr>
            <a:xfrm>
              <a:off x="2051640" y="2817720"/>
              <a:ext cx="6192000" cy="111456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00B050"/>
              </a:solidFill>
              <a:prstDash val="sys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3" name="CustomShape 34"/>
            <p:cNvSpPr/>
            <p:nvPr/>
          </p:nvSpPr>
          <p:spPr>
            <a:xfrm flipH="1" flipV="1">
              <a:off x="1746720" y="5552640"/>
              <a:ext cx="787680" cy="10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4" name="CustomShape 35"/>
            <p:cNvSpPr/>
            <p:nvPr/>
          </p:nvSpPr>
          <p:spPr>
            <a:xfrm flipV="1">
              <a:off x="1207440" y="4829040"/>
              <a:ext cx="360" cy="5068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5" name="CustomShape 36"/>
            <p:cNvSpPr/>
            <p:nvPr/>
          </p:nvSpPr>
          <p:spPr>
            <a:xfrm flipH="1" flipV="1">
              <a:off x="1198440" y="3723480"/>
              <a:ext cx="6480" cy="6004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6" name="CustomShape 37"/>
            <p:cNvSpPr/>
            <p:nvPr/>
          </p:nvSpPr>
          <p:spPr>
            <a:xfrm flipH="1">
              <a:off x="1198440" y="2252160"/>
              <a:ext cx="360" cy="6976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7" name="CustomShape 38"/>
            <p:cNvSpPr/>
            <p:nvPr/>
          </p:nvSpPr>
          <p:spPr>
            <a:xfrm flipV="1">
              <a:off x="2886840" y="3358800"/>
              <a:ext cx="480960" cy="936720"/>
            </a:xfrm>
            <a:prstGeom prst="bentConnector3">
              <a:avLst>
                <a:gd name="adj1" fmla="val 33942"/>
              </a:avLst>
            </a:pr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8" name="CustomShape 39"/>
            <p:cNvSpPr/>
            <p:nvPr/>
          </p:nvSpPr>
          <p:spPr>
            <a:xfrm>
              <a:off x="2144160" y="4074480"/>
              <a:ext cx="742320" cy="443880"/>
            </a:xfrm>
            <a:prstGeom prst="flowChartMulti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L1</a:t>
              </a:r>
              <a:endParaRPr lang="en-AU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netCDF</a:t>
              </a:r>
              <a:endParaRPr lang="en-AU" sz="800" b="0" strike="noStrike" spc="-1">
                <a:latin typeface="Arial"/>
              </a:endParaRPr>
            </a:p>
          </p:txBody>
        </p:sp>
        <p:sp>
          <p:nvSpPr>
            <p:cNvPr id="229" name="CustomShape 40"/>
            <p:cNvSpPr/>
            <p:nvPr/>
          </p:nvSpPr>
          <p:spPr>
            <a:xfrm>
              <a:off x="2564640" y="3713400"/>
              <a:ext cx="1080" cy="360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0" name="CustomShape 41"/>
            <p:cNvSpPr/>
            <p:nvPr/>
          </p:nvSpPr>
          <p:spPr>
            <a:xfrm>
              <a:off x="3200040" y="4074480"/>
              <a:ext cx="742320" cy="443880"/>
            </a:xfrm>
            <a:prstGeom prst="flowChartMulti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L2</a:t>
              </a:r>
              <a:endParaRPr lang="en-AU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netCDF</a:t>
              </a:r>
              <a:endParaRPr lang="en-AU" sz="800" b="0" strike="noStrike" spc="-1">
                <a:latin typeface="Arial"/>
              </a:endParaRPr>
            </a:p>
          </p:txBody>
        </p:sp>
        <p:sp>
          <p:nvSpPr>
            <p:cNvPr id="231" name="CustomShape 42"/>
            <p:cNvSpPr/>
            <p:nvPr/>
          </p:nvSpPr>
          <p:spPr>
            <a:xfrm>
              <a:off x="4224240" y="4074480"/>
              <a:ext cx="742320" cy="443880"/>
            </a:xfrm>
            <a:prstGeom prst="flowChartMultidocument">
              <a:avLst/>
            </a:prstGeom>
            <a:noFill/>
            <a:ln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L3</a:t>
              </a:r>
              <a:endParaRPr lang="en-AU" sz="8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AU" sz="800" b="0" strike="noStrike" spc="-1">
                  <a:solidFill>
                    <a:srgbClr val="5D6B30"/>
                  </a:solidFill>
                  <a:latin typeface="Arial"/>
                  <a:ea typeface="DejaVu Sans"/>
                </a:rPr>
                <a:t>netCDF</a:t>
              </a:r>
              <a:endParaRPr lang="en-AU" sz="800" b="0" strike="noStrike" spc="-1">
                <a:latin typeface="Arial"/>
              </a:endParaRPr>
            </a:p>
          </p:txBody>
        </p:sp>
        <p:sp>
          <p:nvSpPr>
            <p:cNvPr id="232" name="CustomShape 43"/>
            <p:cNvSpPr/>
            <p:nvPr/>
          </p:nvSpPr>
          <p:spPr>
            <a:xfrm>
              <a:off x="1979640" y="2061000"/>
              <a:ext cx="3167640" cy="280116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FF0000"/>
              </a:solidFill>
              <a:prstDash val="sysDot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3" name="CustomShape 44"/>
            <p:cNvSpPr/>
            <p:nvPr/>
          </p:nvSpPr>
          <p:spPr>
            <a:xfrm>
              <a:off x="5182560" y="2061000"/>
              <a:ext cx="3167640" cy="2801160"/>
            </a:xfrm>
            <a:prstGeom prst="roundRect">
              <a:avLst>
                <a:gd name="adj" fmla="val 16667"/>
              </a:avLst>
            </a:prstGeom>
            <a:noFill/>
            <a:ln>
              <a:solidFill>
                <a:srgbClr val="00B0F0"/>
              </a:solidFill>
              <a:prstDash val="sysDot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4" name="CustomShape 45"/>
            <p:cNvSpPr/>
            <p:nvPr/>
          </p:nvSpPr>
          <p:spPr>
            <a:xfrm>
              <a:off x="2890440" y="1582560"/>
              <a:ext cx="1387440" cy="3643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AU" sz="1800" b="0" strike="noStrike" spc="-1">
                  <a:solidFill>
                    <a:srgbClr val="FF0000"/>
                  </a:solidFill>
                  <a:latin typeface="Arial"/>
                  <a:ea typeface="DejaVu Sans"/>
                </a:rPr>
                <a:t>Yearly files</a:t>
              </a:r>
              <a:endParaRPr lang="en-AU" sz="1800" b="0" strike="noStrike" spc="-1">
                <a:latin typeface="Arial"/>
              </a:endParaRPr>
            </a:p>
          </p:txBody>
        </p:sp>
        <p:sp>
          <p:nvSpPr>
            <p:cNvPr id="235" name="CustomShape 46"/>
            <p:cNvSpPr/>
            <p:nvPr/>
          </p:nvSpPr>
          <p:spPr>
            <a:xfrm>
              <a:off x="3620880" y="3713400"/>
              <a:ext cx="1080" cy="360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6" name="CustomShape 47"/>
            <p:cNvSpPr/>
            <p:nvPr/>
          </p:nvSpPr>
          <p:spPr>
            <a:xfrm flipV="1">
              <a:off x="3943080" y="3358800"/>
              <a:ext cx="448920" cy="936720"/>
            </a:xfrm>
            <a:prstGeom prst="bentConnector3">
              <a:avLst>
                <a:gd name="adj1" fmla="val 34359"/>
              </a:avLst>
            </a:pr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7" name="CustomShape 48"/>
            <p:cNvSpPr/>
            <p:nvPr/>
          </p:nvSpPr>
          <p:spPr>
            <a:xfrm>
              <a:off x="4644720" y="3713400"/>
              <a:ext cx="1080" cy="360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21600"/>
                  </a:lnTo>
                </a:path>
              </a:pathLst>
            </a:cu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8" name="CustomShape 49"/>
            <p:cNvSpPr/>
            <p:nvPr/>
          </p:nvSpPr>
          <p:spPr>
            <a:xfrm>
              <a:off x="5580000" y="1582560"/>
              <a:ext cx="2087640" cy="3643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AU" sz="1800" b="0" strike="noStrike" spc="-1">
                  <a:solidFill>
                    <a:srgbClr val="00B0F0"/>
                  </a:solidFill>
                  <a:latin typeface="Arial"/>
                  <a:ea typeface="DejaVu Sans"/>
                </a:rPr>
                <a:t>Multiple year files</a:t>
              </a:r>
              <a:endParaRPr lang="en-AU" sz="1800" b="0" strike="noStrike" spc="-1">
                <a:latin typeface="Arial"/>
              </a:endParaRPr>
            </a:p>
          </p:txBody>
        </p:sp>
        <p:sp>
          <p:nvSpPr>
            <p:cNvPr id="239" name="CustomShape 50"/>
            <p:cNvSpPr/>
            <p:nvPr/>
          </p:nvSpPr>
          <p:spPr>
            <a:xfrm flipV="1">
              <a:off x="4966920" y="3358800"/>
              <a:ext cx="467280" cy="936720"/>
            </a:xfrm>
            <a:prstGeom prst="bentConnector3">
              <a:avLst>
                <a:gd name="adj1" fmla="val 27461"/>
              </a:avLst>
            </a:pr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0" name="CustomShape 51"/>
            <p:cNvSpPr/>
            <p:nvPr/>
          </p:nvSpPr>
          <p:spPr>
            <a:xfrm flipV="1">
              <a:off x="6047280" y="3358800"/>
              <a:ext cx="468360" cy="93672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1" name="CustomShape 52"/>
            <p:cNvSpPr/>
            <p:nvPr/>
          </p:nvSpPr>
          <p:spPr>
            <a:xfrm flipV="1">
              <a:off x="7126560" y="3358800"/>
              <a:ext cx="396000" cy="936720"/>
            </a:xfrm>
            <a:prstGeom prst="bentConnector3">
              <a:avLst>
                <a:gd name="adj1" fmla="val 50000"/>
              </a:avLst>
            </a:prstGeom>
            <a:noFill/>
            <a:ln>
              <a:solidFill>
                <a:srgbClr val="BC4B12"/>
              </a:solidFill>
              <a:round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242" name="Picture 5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netCDF Files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244" name="CustomShape 2"/>
          <p:cNvSpPr/>
          <p:nvPr/>
        </p:nvSpPr>
        <p:spPr>
          <a:xfrm>
            <a:off x="539640" y="1412640"/>
            <a:ext cx="8208360" cy="4751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Platform independent binary file.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Widely used by modelling communities.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Metadata packaged with data.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PyFluxPro netCDF files;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Compliant with CF Metadata Conventions;</a:t>
            </a:r>
            <a:endParaRPr lang="en-AU" sz="28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Controlled vocabulary for metadata.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Standardised set of global and variable attributes (metadata).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Standardised variable names.</a:t>
            </a:r>
            <a:endParaRPr lang="en-AU" sz="2800" b="0" strike="noStrike" spc="-1">
              <a:latin typeface="Arial"/>
            </a:endParaRPr>
          </a:p>
        </p:txBody>
      </p:sp>
      <p:pic>
        <p:nvPicPr>
          <p:cNvPr id="245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CustomShape 1"/>
          <p:cNvSpPr/>
          <p:nvPr/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AU" sz="4000" b="1" strike="noStrike" cap="all" spc="-1">
                <a:solidFill>
                  <a:srgbClr val="5D6B30"/>
                </a:solidFill>
                <a:latin typeface="Arial"/>
              </a:rPr>
              <a:t>pyfluxpro processing levels</a:t>
            </a:r>
            <a:endParaRPr lang="en-AU" sz="4000" b="0" strike="noStrike" spc="-1">
              <a:latin typeface="Arial"/>
            </a:endParaRPr>
          </a:p>
        </p:txBody>
      </p:sp>
      <p:sp>
        <p:nvSpPr>
          <p:cNvPr id="247" name="CustomShape 2"/>
          <p:cNvSpPr/>
          <p:nvPr/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L1 Details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Conversion of input files to PyFluxPro netCDF files;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Standardising the input format to PyFluxPro.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Addition of metadata to the data stream;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Global attributes to describe data set;</a:t>
            </a:r>
            <a:endParaRPr lang="en-AU" sz="28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Site, contact, canopy, vegetation, soil …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Variable attributes to describe data;</a:t>
            </a:r>
            <a:endParaRPr lang="en-AU" sz="28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standard_name, long_name, height, instrument …</a:t>
            </a:r>
            <a:endParaRPr lang="en-AU" sz="2400" b="0" strike="noStrike" spc="-1">
              <a:latin typeface="Arial"/>
            </a:endParaRPr>
          </a:p>
        </p:txBody>
      </p:sp>
      <p:pic>
        <p:nvPicPr>
          <p:cNvPr id="250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L2 Details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252" name="CustomShape 2"/>
          <p:cNvSpPr/>
          <p:nvPr/>
        </p:nvSpPr>
        <p:spPr>
          <a:xfrm>
            <a:off x="611640" y="1484640"/>
            <a:ext cx="800244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Quality control checks;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Plausible limits on data.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Rejection of outlying points.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Rejection of specific date periods.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Rejection of specific times.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Linear correction of calibration drifts.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Rejection of data based on CSAT and IRGA diagnostics.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QC checks written to variable attributes.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tabLst>
                <a:tab pos="0" algn="l"/>
              </a:tabLst>
            </a:pPr>
            <a:endParaRPr lang="en-AU" sz="3200" b="0" strike="noStrike" spc="-1">
              <a:latin typeface="Arial"/>
            </a:endParaRPr>
          </a:p>
        </p:txBody>
      </p:sp>
      <p:pic>
        <p:nvPicPr>
          <p:cNvPr id="253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Behind the Scenes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255" name="CustomShape 2"/>
          <p:cNvSpPr/>
          <p:nvPr/>
        </p:nvSpPr>
        <p:spPr>
          <a:xfrm>
            <a:off x="457200" y="1340640"/>
            <a:ext cx="8228880" cy="4784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Quality Control flags;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Every observation for every variable is assigned an integer QC flag.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Each integer QC flag value has a unique meaning.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QC flag value based on QC checks, processing options, gap filling etc.</a:t>
            </a:r>
            <a:endParaRPr lang="en-AU" sz="24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Metadata;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Metadata travels with the data.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Metadata updated whenever something is done to the data.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Resulting file should be self-documenting.</a:t>
            </a:r>
            <a:endParaRPr lang="en-AU" sz="2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AU" sz="2400" b="0" strike="noStrike" spc="-1">
              <a:latin typeface="Arial"/>
            </a:endParaRPr>
          </a:p>
        </p:txBody>
      </p:sp>
      <p:pic>
        <p:nvPicPr>
          <p:cNvPr id="256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L3 Details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258" name="CustomShape 2"/>
          <p:cNvSpPr/>
          <p:nvPr/>
        </p:nvSpPr>
        <p:spPr>
          <a:xfrm>
            <a:off x="683640" y="1484640"/>
            <a:ext cx="7786440" cy="4492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Post-processing and corrections;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Merge redundant measurements.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Calculate meteorological quantities.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2D coordinate rotation (if required).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Massman frequency corrections.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Calculation of fluxes from covariances.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Application of WPL corrections (if required).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Calculation of net radiation, available energy, ground heat flux.</a:t>
            </a:r>
            <a:endParaRPr lang="en-AU" sz="2800" b="0" strike="noStrike" spc="-1">
              <a:latin typeface="Arial"/>
            </a:endParaRPr>
          </a:p>
        </p:txBody>
      </p:sp>
      <p:pic>
        <p:nvPicPr>
          <p:cNvPr id="259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ustomShape 1"/>
          <p:cNvSpPr/>
          <p:nvPr/>
        </p:nvSpPr>
        <p:spPr>
          <a:xfrm>
            <a:off x="667440" y="5337360"/>
            <a:ext cx="1079280" cy="431280"/>
          </a:xfrm>
          <a:prstGeom prst="flowChartProcess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EddyPro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261" name="CustomShape 2"/>
          <p:cNvSpPr/>
          <p:nvPr/>
        </p:nvSpPr>
        <p:spPr>
          <a:xfrm>
            <a:off x="2535840" y="5158800"/>
            <a:ext cx="955440" cy="791280"/>
          </a:xfrm>
          <a:prstGeom prst="flowChartMulti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Fast data</a:t>
            </a:r>
            <a:endParaRPr lang="en-A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TOB3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262" name="CustomShape 3"/>
          <p:cNvSpPr/>
          <p:nvPr/>
        </p:nvSpPr>
        <p:spPr>
          <a:xfrm>
            <a:off x="734400" y="4325400"/>
            <a:ext cx="945000" cy="53928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_fulloutput</a:t>
            </a:r>
            <a:endParaRPr lang="en-A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CSV file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263" name="CustomShape 4"/>
          <p:cNvSpPr/>
          <p:nvPr/>
        </p:nvSpPr>
        <p:spPr>
          <a:xfrm>
            <a:off x="683640" y="2950920"/>
            <a:ext cx="1032120" cy="82728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L1 Excel spreadsheet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264" name="CustomShape 5"/>
          <p:cNvSpPr/>
          <p:nvPr/>
        </p:nvSpPr>
        <p:spPr>
          <a:xfrm>
            <a:off x="2312640" y="3005640"/>
            <a:ext cx="503280" cy="707400"/>
          </a:xfrm>
          <a:prstGeom prst="flowChartProcess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L1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265" name="CustomShape 6"/>
          <p:cNvSpPr/>
          <p:nvPr/>
        </p:nvSpPr>
        <p:spPr>
          <a:xfrm>
            <a:off x="766440" y="1628640"/>
            <a:ext cx="1007280" cy="647280"/>
          </a:xfrm>
          <a:prstGeom prst="flowChartMulti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Slow data</a:t>
            </a:r>
            <a:endParaRPr lang="en-A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TOA5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266" name="CustomShape 7"/>
          <p:cNvSpPr/>
          <p:nvPr/>
        </p:nvSpPr>
        <p:spPr>
          <a:xfrm>
            <a:off x="3368880" y="3005640"/>
            <a:ext cx="503280" cy="707400"/>
          </a:xfrm>
          <a:prstGeom prst="flowChartProcess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L2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267" name="CustomShape 8"/>
          <p:cNvSpPr/>
          <p:nvPr/>
        </p:nvSpPr>
        <p:spPr>
          <a:xfrm>
            <a:off x="3292200" y="2277000"/>
            <a:ext cx="656640" cy="37764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L2</a:t>
            </a:r>
            <a:endParaRPr lang="en-AU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control file</a:t>
            </a:r>
            <a:endParaRPr lang="en-AU" sz="800" b="0" strike="noStrike" spc="-1">
              <a:latin typeface="Arial"/>
            </a:endParaRPr>
          </a:p>
        </p:txBody>
      </p:sp>
      <p:sp>
        <p:nvSpPr>
          <p:cNvPr id="268" name="CustomShape 9"/>
          <p:cNvSpPr/>
          <p:nvPr/>
        </p:nvSpPr>
        <p:spPr>
          <a:xfrm>
            <a:off x="2238840" y="2277000"/>
            <a:ext cx="650880" cy="37764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L1</a:t>
            </a:r>
            <a:endParaRPr lang="en-AU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control file</a:t>
            </a:r>
            <a:endParaRPr lang="en-AU" sz="800" b="0" strike="noStrike" spc="-1">
              <a:latin typeface="Arial"/>
            </a:endParaRPr>
          </a:p>
        </p:txBody>
      </p:sp>
      <p:sp>
        <p:nvSpPr>
          <p:cNvPr id="269" name="CustomShape 10"/>
          <p:cNvSpPr/>
          <p:nvPr/>
        </p:nvSpPr>
        <p:spPr>
          <a:xfrm flipV="1">
            <a:off x="1716480" y="3358800"/>
            <a:ext cx="595440" cy="4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0" name="CustomShape 11"/>
          <p:cNvSpPr/>
          <p:nvPr/>
        </p:nvSpPr>
        <p:spPr>
          <a:xfrm>
            <a:off x="2564640" y="2630160"/>
            <a:ext cx="360" cy="37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1" name="CustomShape 12"/>
          <p:cNvSpPr/>
          <p:nvPr/>
        </p:nvSpPr>
        <p:spPr>
          <a:xfrm>
            <a:off x="3620880" y="2630160"/>
            <a:ext cx="360" cy="37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2" name="CustomShape 13"/>
          <p:cNvSpPr/>
          <p:nvPr/>
        </p:nvSpPr>
        <p:spPr>
          <a:xfrm>
            <a:off x="4392720" y="3005640"/>
            <a:ext cx="503280" cy="707400"/>
          </a:xfrm>
          <a:prstGeom prst="flowChartProcess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L3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273" name="CustomShape 14"/>
          <p:cNvSpPr/>
          <p:nvPr/>
        </p:nvSpPr>
        <p:spPr>
          <a:xfrm>
            <a:off x="5435280" y="3005640"/>
            <a:ext cx="503280" cy="707400"/>
          </a:xfrm>
          <a:prstGeom prst="flowChartProcess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L4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274" name="CustomShape 15"/>
          <p:cNvSpPr/>
          <p:nvPr/>
        </p:nvSpPr>
        <p:spPr>
          <a:xfrm>
            <a:off x="5354640" y="2277000"/>
            <a:ext cx="656640" cy="37764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L4 control file</a:t>
            </a:r>
            <a:endParaRPr lang="en-AU" sz="800" b="0" strike="noStrike" spc="-1">
              <a:latin typeface="Arial"/>
            </a:endParaRPr>
          </a:p>
        </p:txBody>
      </p:sp>
      <p:sp>
        <p:nvSpPr>
          <p:cNvPr id="275" name="CustomShape 16"/>
          <p:cNvSpPr/>
          <p:nvPr/>
        </p:nvSpPr>
        <p:spPr>
          <a:xfrm>
            <a:off x="4308480" y="2277000"/>
            <a:ext cx="668160" cy="37764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L3</a:t>
            </a:r>
            <a:endParaRPr lang="en-AU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control file</a:t>
            </a:r>
            <a:endParaRPr lang="en-AU" sz="800" b="0" strike="noStrike" spc="-1">
              <a:latin typeface="Arial"/>
            </a:endParaRPr>
          </a:p>
        </p:txBody>
      </p:sp>
      <p:sp>
        <p:nvSpPr>
          <p:cNvPr id="276" name="CustomShape 17"/>
          <p:cNvSpPr/>
          <p:nvPr/>
        </p:nvSpPr>
        <p:spPr>
          <a:xfrm>
            <a:off x="4642920" y="2630160"/>
            <a:ext cx="1080" cy="37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7" name="CustomShape 18"/>
          <p:cNvSpPr/>
          <p:nvPr/>
        </p:nvSpPr>
        <p:spPr>
          <a:xfrm>
            <a:off x="5683320" y="2630160"/>
            <a:ext cx="3240" cy="37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8" name="CustomShape 19"/>
          <p:cNvSpPr/>
          <p:nvPr/>
        </p:nvSpPr>
        <p:spPr>
          <a:xfrm>
            <a:off x="5327280" y="4074480"/>
            <a:ext cx="719280" cy="44388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L4</a:t>
            </a:r>
            <a:endParaRPr lang="en-AU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netCDF</a:t>
            </a:r>
            <a:endParaRPr lang="en-AU" sz="800" b="0" strike="noStrike" spc="-1">
              <a:latin typeface="Arial"/>
            </a:endParaRPr>
          </a:p>
        </p:txBody>
      </p:sp>
      <p:sp>
        <p:nvSpPr>
          <p:cNvPr id="279" name="CustomShape 20"/>
          <p:cNvSpPr/>
          <p:nvPr/>
        </p:nvSpPr>
        <p:spPr>
          <a:xfrm>
            <a:off x="6516360" y="3005640"/>
            <a:ext cx="503280" cy="707400"/>
          </a:xfrm>
          <a:prstGeom prst="flowChartProcess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L5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280" name="CustomShape 21"/>
          <p:cNvSpPr/>
          <p:nvPr/>
        </p:nvSpPr>
        <p:spPr>
          <a:xfrm>
            <a:off x="6406560" y="4074480"/>
            <a:ext cx="719280" cy="44388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L5</a:t>
            </a:r>
            <a:endParaRPr lang="en-AU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netCDF</a:t>
            </a:r>
            <a:endParaRPr lang="en-AU" sz="800" b="0" strike="noStrike" spc="-1">
              <a:latin typeface="Arial"/>
            </a:endParaRPr>
          </a:p>
        </p:txBody>
      </p:sp>
      <p:sp>
        <p:nvSpPr>
          <p:cNvPr id="281" name="CustomShape 22"/>
          <p:cNvSpPr/>
          <p:nvPr/>
        </p:nvSpPr>
        <p:spPr>
          <a:xfrm>
            <a:off x="7523280" y="3005640"/>
            <a:ext cx="503280" cy="707400"/>
          </a:xfrm>
          <a:prstGeom prst="flowChartProcess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L6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282" name="CustomShape 23"/>
          <p:cNvSpPr/>
          <p:nvPr/>
        </p:nvSpPr>
        <p:spPr>
          <a:xfrm>
            <a:off x="7443720" y="2277000"/>
            <a:ext cx="656640" cy="37764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L6 control file</a:t>
            </a:r>
            <a:endParaRPr lang="en-AU" sz="800" b="0" strike="noStrike" spc="-1">
              <a:latin typeface="Arial"/>
            </a:endParaRPr>
          </a:p>
        </p:txBody>
      </p:sp>
      <p:sp>
        <p:nvSpPr>
          <p:cNvPr id="283" name="CustomShape 24"/>
          <p:cNvSpPr/>
          <p:nvPr/>
        </p:nvSpPr>
        <p:spPr>
          <a:xfrm>
            <a:off x="6427800" y="2277000"/>
            <a:ext cx="658080" cy="37764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L5 control file</a:t>
            </a:r>
            <a:endParaRPr lang="en-AU" sz="800" b="0" strike="noStrike" spc="-1">
              <a:latin typeface="Arial"/>
            </a:endParaRPr>
          </a:p>
        </p:txBody>
      </p:sp>
      <p:sp>
        <p:nvSpPr>
          <p:cNvPr id="284" name="CustomShape 25"/>
          <p:cNvSpPr/>
          <p:nvPr/>
        </p:nvSpPr>
        <p:spPr>
          <a:xfrm>
            <a:off x="6757200" y="2630160"/>
            <a:ext cx="10440" cy="37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5" name="CustomShape 26"/>
          <p:cNvSpPr/>
          <p:nvPr/>
        </p:nvSpPr>
        <p:spPr>
          <a:xfrm flipH="1">
            <a:off x="6765840" y="3713400"/>
            <a:ext cx="1080" cy="360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6" name="CustomShape 27"/>
          <p:cNvSpPr/>
          <p:nvPr/>
        </p:nvSpPr>
        <p:spPr>
          <a:xfrm>
            <a:off x="7772400" y="2630160"/>
            <a:ext cx="2520" cy="37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7" name="CustomShape 28"/>
          <p:cNvSpPr/>
          <p:nvPr/>
        </p:nvSpPr>
        <p:spPr>
          <a:xfrm>
            <a:off x="7415280" y="4074480"/>
            <a:ext cx="719280" cy="44388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L6</a:t>
            </a:r>
            <a:endParaRPr lang="en-AU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netCDF</a:t>
            </a:r>
            <a:endParaRPr lang="en-AU" sz="800" b="0" strike="noStrike" spc="-1">
              <a:latin typeface="Arial"/>
            </a:endParaRPr>
          </a:p>
        </p:txBody>
      </p:sp>
      <p:sp>
        <p:nvSpPr>
          <p:cNvPr id="288" name="CustomShape 29"/>
          <p:cNvSpPr/>
          <p:nvPr/>
        </p:nvSpPr>
        <p:spPr>
          <a:xfrm>
            <a:off x="5687280" y="3713400"/>
            <a:ext cx="360" cy="360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9" name="CustomShape 30"/>
          <p:cNvSpPr/>
          <p:nvPr/>
        </p:nvSpPr>
        <p:spPr>
          <a:xfrm>
            <a:off x="7775640" y="3713400"/>
            <a:ext cx="360" cy="360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0" name="CustomShape 31"/>
          <p:cNvSpPr/>
          <p:nvPr/>
        </p:nvSpPr>
        <p:spPr>
          <a:xfrm>
            <a:off x="2051640" y="2817720"/>
            <a:ext cx="6192000" cy="11145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B050"/>
            </a:solidFill>
            <a:prstDash val="sys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1" name="CustomShape 32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PyFluxPro Data Flow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292" name="CustomShape 33"/>
          <p:cNvSpPr/>
          <p:nvPr/>
        </p:nvSpPr>
        <p:spPr>
          <a:xfrm flipH="1" flipV="1">
            <a:off x="1746720" y="5552640"/>
            <a:ext cx="78768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3" name="CustomShape 34"/>
          <p:cNvSpPr/>
          <p:nvPr/>
        </p:nvSpPr>
        <p:spPr>
          <a:xfrm flipV="1">
            <a:off x="1207440" y="4829040"/>
            <a:ext cx="360" cy="506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4" name="CustomShape 35"/>
          <p:cNvSpPr/>
          <p:nvPr/>
        </p:nvSpPr>
        <p:spPr>
          <a:xfrm flipH="1" flipV="1">
            <a:off x="1198440" y="3723480"/>
            <a:ext cx="6480" cy="600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5" name="CustomShape 36"/>
          <p:cNvSpPr/>
          <p:nvPr/>
        </p:nvSpPr>
        <p:spPr>
          <a:xfrm flipH="1">
            <a:off x="1198440" y="2252160"/>
            <a:ext cx="360" cy="697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6" name="CustomShape 37"/>
          <p:cNvSpPr/>
          <p:nvPr/>
        </p:nvSpPr>
        <p:spPr>
          <a:xfrm flipV="1">
            <a:off x="2886840" y="3358800"/>
            <a:ext cx="480960" cy="936720"/>
          </a:xfrm>
          <a:prstGeom prst="bentConnector3">
            <a:avLst>
              <a:gd name="adj1" fmla="val 33942"/>
            </a:avLst>
          </a:pr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7" name="CustomShape 38"/>
          <p:cNvSpPr/>
          <p:nvPr/>
        </p:nvSpPr>
        <p:spPr>
          <a:xfrm>
            <a:off x="2144160" y="4074480"/>
            <a:ext cx="742320" cy="443880"/>
          </a:xfrm>
          <a:prstGeom prst="flowChartMulti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L1</a:t>
            </a:r>
            <a:endParaRPr lang="en-AU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netCDF</a:t>
            </a:r>
            <a:endParaRPr lang="en-AU" sz="800" b="0" strike="noStrike" spc="-1">
              <a:latin typeface="Arial"/>
            </a:endParaRPr>
          </a:p>
        </p:txBody>
      </p:sp>
      <p:sp>
        <p:nvSpPr>
          <p:cNvPr id="298" name="CustomShape 39"/>
          <p:cNvSpPr/>
          <p:nvPr/>
        </p:nvSpPr>
        <p:spPr>
          <a:xfrm>
            <a:off x="2564640" y="3713400"/>
            <a:ext cx="1080" cy="360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9" name="CustomShape 40"/>
          <p:cNvSpPr/>
          <p:nvPr/>
        </p:nvSpPr>
        <p:spPr>
          <a:xfrm>
            <a:off x="3200040" y="4074480"/>
            <a:ext cx="742320" cy="443880"/>
          </a:xfrm>
          <a:prstGeom prst="flowChartMulti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L2</a:t>
            </a:r>
            <a:endParaRPr lang="en-AU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netCDF</a:t>
            </a:r>
            <a:endParaRPr lang="en-AU" sz="800" b="0" strike="noStrike" spc="-1">
              <a:latin typeface="Arial"/>
            </a:endParaRPr>
          </a:p>
        </p:txBody>
      </p:sp>
      <p:sp>
        <p:nvSpPr>
          <p:cNvPr id="300" name="CustomShape 41"/>
          <p:cNvSpPr/>
          <p:nvPr/>
        </p:nvSpPr>
        <p:spPr>
          <a:xfrm>
            <a:off x="4224240" y="4074480"/>
            <a:ext cx="742320" cy="443880"/>
          </a:xfrm>
          <a:prstGeom prst="flowChartMulti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L3</a:t>
            </a:r>
            <a:endParaRPr lang="en-AU" sz="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800" b="0" strike="noStrike" spc="-1">
                <a:solidFill>
                  <a:srgbClr val="5D6B30"/>
                </a:solidFill>
                <a:latin typeface="Arial"/>
                <a:ea typeface="DejaVu Sans"/>
              </a:rPr>
              <a:t>netCDF</a:t>
            </a:r>
            <a:endParaRPr lang="en-AU" sz="800" b="0" strike="noStrike" spc="-1">
              <a:latin typeface="Arial"/>
            </a:endParaRPr>
          </a:p>
        </p:txBody>
      </p:sp>
      <p:sp>
        <p:nvSpPr>
          <p:cNvPr id="301" name="CustomShape 42"/>
          <p:cNvSpPr/>
          <p:nvPr/>
        </p:nvSpPr>
        <p:spPr>
          <a:xfrm>
            <a:off x="1979640" y="2061000"/>
            <a:ext cx="3167640" cy="28011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2" name="CustomShape 43"/>
          <p:cNvSpPr/>
          <p:nvPr/>
        </p:nvSpPr>
        <p:spPr>
          <a:xfrm>
            <a:off x="5182560" y="2061000"/>
            <a:ext cx="3167640" cy="28011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B0F0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3" name="CustomShape 44"/>
          <p:cNvSpPr/>
          <p:nvPr/>
        </p:nvSpPr>
        <p:spPr>
          <a:xfrm>
            <a:off x="2890440" y="1582560"/>
            <a:ext cx="13874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AU" sz="1800" b="0" strike="noStrike" spc="-1">
                <a:solidFill>
                  <a:srgbClr val="FF0000"/>
                </a:solidFill>
                <a:latin typeface="Arial"/>
                <a:ea typeface="DejaVu Sans"/>
              </a:rPr>
              <a:t>Yearly files</a:t>
            </a:r>
            <a:endParaRPr lang="en-AU" sz="1800" b="0" strike="noStrike" spc="-1">
              <a:latin typeface="Arial"/>
            </a:endParaRPr>
          </a:p>
        </p:txBody>
      </p:sp>
      <p:sp>
        <p:nvSpPr>
          <p:cNvPr id="304" name="CustomShape 45"/>
          <p:cNvSpPr/>
          <p:nvPr/>
        </p:nvSpPr>
        <p:spPr>
          <a:xfrm>
            <a:off x="3620880" y="3713400"/>
            <a:ext cx="1080" cy="360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5" name="CustomShape 46"/>
          <p:cNvSpPr/>
          <p:nvPr/>
        </p:nvSpPr>
        <p:spPr>
          <a:xfrm flipV="1">
            <a:off x="3943080" y="3358800"/>
            <a:ext cx="448920" cy="936720"/>
          </a:xfrm>
          <a:prstGeom prst="bentConnector3">
            <a:avLst>
              <a:gd name="adj1" fmla="val 34359"/>
            </a:avLst>
          </a:pr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6" name="CustomShape 47"/>
          <p:cNvSpPr/>
          <p:nvPr/>
        </p:nvSpPr>
        <p:spPr>
          <a:xfrm>
            <a:off x="4644720" y="3713400"/>
            <a:ext cx="1080" cy="360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7" name="CustomShape 48"/>
          <p:cNvSpPr/>
          <p:nvPr/>
        </p:nvSpPr>
        <p:spPr>
          <a:xfrm>
            <a:off x="5580000" y="1582560"/>
            <a:ext cx="20876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AU" sz="1800" b="0" strike="noStrike" spc="-1">
                <a:solidFill>
                  <a:srgbClr val="00B0F0"/>
                </a:solidFill>
                <a:latin typeface="Arial"/>
                <a:ea typeface="DejaVu Sans"/>
              </a:rPr>
              <a:t>Multiple year files</a:t>
            </a:r>
            <a:endParaRPr lang="en-AU" sz="1800" b="0" strike="noStrike" spc="-1">
              <a:latin typeface="Arial"/>
            </a:endParaRPr>
          </a:p>
        </p:txBody>
      </p:sp>
      <p:sp>
        <p:nvSpPr>
          <p:cNvPr id="308" name="CustomShape 49"/>
          <p:cNvSpPr/>
          <p:nvPr/>
        </p:nvSpPr>
        <p:spPr>
          <a:xfrm flipV="1">
            <a:off x="4966920" y="3358800"/>
            <a:ext cx="467280" cy="936720"/>
          </a:xfrm>
          <a:prstGeom prst="bentConnector3">
            <a:avLst>
              <a:gd name="adj1" fmla="val 27461"/>
            </a:avLst>
          </a:pr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9" name="CustomShape 50"/>
          <p:cNvSpPr/>
          <p:nvPr/>
        </p:nvSpPr>
        <p:spPr>
          <a:xfrm flipV="1">
            <a:off x="6047280" y="3358800"/>
            <a:ext cx="468360" cy="936720"/>
          </a:xfrm>
          <a:prstGeom prst="bentConnector3">
            <a:avLst>
              <a:gd name="adj1" fmla="val 50000"/>
            </a:avLst>
          </a:pr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0" name="CustomShape 51"/>
          <p:cNvSpPr/>
          <p:nvPr/>
        </p:nvSpPr>
        <p:spPr>
          <a:xfrm flipV="1">
            <a:off x="7126560" y="3358800"/>
            <a:ext cx="396000" cy="936720"/>
          </a:xfrm>
          <a:prstGeom prst="bentConnector3">
            <a:avLst>
              <a:gd name="adj1" fmla="val 50000"/>
            </a:avLst>
          </a:pr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11" name="Picture 5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  <p:sp>
        <p:nvSpPr>
          <p:cNvPr id="312" name="CustomShape 52"/>
          <p:cNvSpPr/>
          <p:nvPr/>
        </p:nvSpPr>
        <p:spPr>
          <a:xfrm>
            <a:off x="4788000" y="1845000"/>
            <a:ext cx="791280" cy="3237840"/>
          </a:xfrm>
          <a:prstGeom prst="roundRect">
            <a:avLst>
              <a:gd name="adj" fmla="val 16667"/>
            </a:avLst>
          </a:prstGeom>
          <a:solidFill>
            <a:schemeClr val="accent1">
              <a:alpha val="25000"/>
            </a:schemeClr>
          </a:solidFill>
          <a:ln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3" name="CustomShape 53"/>
          <p:cNvSpPr/>
          <p:nvPr/>
        </p:nvSpPr>
        <p:spPr>
          <a:xfrm>
            <a:off x="4392720" y="5446080"/>
            <a:ext cx="176256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AU" sz="1800" b="0" strike="noStrike" spc="-1">
                <a:solidFill>
                  <a:srgbClr val="5D6B30"/>
                </a:solidFill>
                <a:latin typeface="Arial"/>
                <a:ea typeface="DejaVu Sans"/>
              </a:rPr>
              <a:t>See next slide for details</a:t>
            </a:r>
            <a:endParaRPr lang="en-AU" sz="1800" b="0" strike="noStrike" spc="-1">
              <a:latin typeface="Arial"/>
            </a:endParaRPr>
          </a:p>
        </p:txBody>
      </p:sp>
      <p:sp>
        <p:nvSpPr>
          <p:cNvPr id="314" name="CustomShape 54"/>
          <p:cNvSpPr/>
          <p:nvPr/>
        </p:nvSpPr>
        <p:spPr>
          <a:xfrm rot="5400000">
            <a:off x="5038560" y="4479120"/>
            <a:ext cx="327960" cy="1618560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rgbClr val="BC4B1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PyFluxPro L3 to L5 Data Flow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316" name="CustomShape 2"/>
          <p:cNvSpPr/>
          <p:nvPr/>
        </p:nvSpPr>
        <p:spPr>
          <a:xfrm>
            <a:off x="1428480" y="2683800"/>
            <a:ext cx="503280" cy="707400"/>
          </a:xfrm>
          <a:prstGeom prst="flowChartProcess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L3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317" name="CustomShape 3"/>
          <p:cNvSpPr/>
          <p:nvPr/>
        </p:nvSpPr>
        <p:spPr>
          <a:xfrm>
            <a:off x="1343880" y="1955160"/>
            <a:ext cx="668160" cy="37764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L3</a:t>
            </a:r>
            <a:endParaRPr lang="en-AU" sz="7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Control file</a:t>
            </a:r>
            <a:endParaRPr lang="en-AU" sz="700" b="0" strike="noStrike" spc="-1">
              <a:latin typeface="Arial"/>
            </a:endParaRPr>
          </a:p>
        </p:txBody>
      </p:sp>
      <p:sp>
        <p:nvSpPr>
          <p:cNvPr id="318" name="CustomShape 4"/>
          <p:cNvSpPr/>
          <p:nvPr/>
        </p:nvSpPr>
        <p:spPr>
          <a:xfrm>
            <a:off x="1678320" y="2308320"/>
            <a:ext cx="1080" cy="37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9" name="CustomShape 5"/>
          <p:cNvSpPr/>
          <p:nvPr/>
        </p:nvSpPr>
        <p:spPr>
          <a:xfrm>
            <a:off x="1259640" y="3752640"/>
            <a:ext cx="742320" cy="443880"/>
          </a:xfrm>
          <a:prstGeom prst="flowChartMulti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L3</a:t>
            </a:r>
            <a:endParaRPr lang="en-AU" sz="7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netCDF</a:t>
            </a:r>
            <a:endParaRPr lang="en-AU" sz="700" b="0" strike="noStrike" spc="-1">
              <a:latin typeface="Arial"/>
            </a:endParaRPr>
          </a:p>
        </p:txBody>
      </p:sp>
      <p:sp>
        <p:nvSpPr>
          <p:cNvPr id="320" name="CustomShape 6"/>
          <p:cNvSpPr/>
          <p:nvPr/>
        </p:nvSpPr>
        <p:spPr>
          <a:xfrm>
            <a:off x="1680480" y="3391560"/>
            <a:ext cx="1080" cy="360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1" name="CustomShape 7"/>
          <p:cNvSpPr/>
          <p:nvPr/>
        </p:nvSpPr>
        <p:spPr>
          <a:xfrm>
            <a:off x="5747760" y="2683800"/>
            <a:ext cx="503280" cy="707400"/>
          </a:xfrm>
          <a:prstGeom prst="flowChartProcess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L4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322" name="CustomShape 8"/>
          <p:cNvSpPr/>
          <p:nvPr/>
        </p:nvSpPr>
        <p:spPr>
          <a:xfrm>
            <a:off x="5667120" y="1955160"/>
            <a:ext cx="656640" cy="37764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L4 control file</a:t>
            </a:r>
            <a:endParaRPr lang="en-AU" sz="700" b="0" strike="noStrike" spc="-1">
              <a:latin typeface="Arial"/>
            </a:endParaRPr>
          </a:p>
        </p:txBody>
      </p:sp>
      <p:sp>
        <p:nvSpPr>
          <p:cNvPr id="323" name="CustomShape 9"/>
          <p:cNvSpPr/>
          <p:nvPr/>
        </p:nvSpPr>
        <p:spPr>
          <a:xfrm>
            <a:off x="5995800" y="2308320"/>
            <a:ext cx="3240" cy="374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4" name="CustomShape 10"/>
          <p:cNvSpPr/>
          <p:nvPr/>
        </p:nvSpPr>
        <p:spPr>
          <a:xfrm>
            <a:off x="5639760" y="3752640"/>
            <a:ext cx="719280" cy="44388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L4</a:t>
            </a:r>
            <a:endParaRPr lang="en-AU" sz="7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netCDF</a:t>
            </a:r>
            <a:endParaRPr lang="en-AU" sz="700" b="0" strike="noStrike" spc="-1">
              <a:latin typeface="Arial"/>
            </a:endParaRPr>
          </a:p>
        </p:txBody>
      </p:sp>
      <p:sp>
        <p:nvSpPr>
          <p:cNvPr id="325" name="CustomShape 11"/>
          <p:cNvSpPr/>
          <p:nvPr/>
        </p:nvSpPr>
        <p:spPr>
          <a:xfrm>
            <a:off x="5999760" y="3391560"/>
            <a:ext cx="360" cy="360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26" name="CustomShape 12"/>
          <p:cNvSpPr/>
          <p:nvPr/>
        </p:nvSpPr>
        <p:spPr>
          <a:xfrm>
            <a:off x="2509200" y="2811240"/>
            <a:ext cx="1079280" cy="452160"/>
          </a:xfrm>
          <a:prstGeom prst="flowChartProcess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Concatenate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327" name="CustomShape 13"/>
          <p:cNvSpPr/>
          <p:nvPr/>
        </p:nvSpPr>
        <p:spPr>
          <a:xfrm>
            <a:off x="4057200" y="2823120"/>
            <a:ext cx="1079280" cy="452160"/>
          </a:xfrm>
          <a:prstGeom prst="flowChartProcess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Climatology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328" name="CustomShape 14"/>
          <p:cNvSpPr/>
          <p:nvPr/>
        </p:nvSpPr>
        <p:spPr>
          <a:xfrm>
            <a:off x="2689200" y="3752640"/>
            <a:ext cx="719280" cy="44388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L3</a:t>
            </a:r>
            <a:endParaRPr lang="en-AU" sz="7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netCDF</a:t>
            </a:r>
            <a:endParaRPr lang="en-AU" sz="700" b="0" strike="noStrike" spc="-1">
              <a:latin typeface="Arial"/>
            </a:endParaRPr>
          </a:p>
        </p:txBody>
      </p:sp>
      <p:sp>
        <p:nvSpPr>
          <p:cNvPr id="329" name="CustomShape 15"/>
          <p:cNvSpPr/>
          <p:nvPr/>
        </p:nvSpPr>
        <p:spPr>
          <a:xfrm>
            <a:off x="4038480" y="5136480"/>
            <a:ext cx="1079280" cy="452160"/>
          </a:xfrm>
          <a:prstGeom prst="flowChartProcess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u* threshold</a:t>
            </a:r>
            <a:endParaRPr lang="en-AU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detection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330" name="CustomShape 16"/>
          <p:cNvSpPr/>
          <p:nvPr/>
        </p:nvSpPr>
        <p:spPr>
          <a:xfrm flipV="1">
            <a:off x="2002680" y="3036960"/>
            <a:ext cx="505800" cy="936360"/>
          </a:xfrm>
          <a:prstGeom prst="bentConnector3">
            <a:avLst>
              <a:gd name="adj1" fmla="val 50000"/>
            </a:avLst>
          </a:pr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1" name="CustomShape 17"/>
          <p:cNvSpPr/>
          <p:nvPr/>
        </p:nvSpPr>
        <p:spPr>
          <a:xfrm>
            <a:off x="3049200" y="3264120"/>
            <a:ext cx="360" cy="487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2" name="CustomShape 18"/>
          <p:cNvSpPr/>
          <p:nvPr/>
        </p:nvSpPr>
        <p:spPr>
          <a:xfrm>
            <a:off x="2645280" y="1955160"/>
            <a:ext cx="813960" cy="37764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Concatenation</a:t>
            </a:r>
            <a:endParaRPr lang="en-AU" sz="7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Control file</a:t>
            </a:r>
            <a:endParaRPr lang="en-AU" sz="700" b="0" strike="noStrike" spc="-1">
              <a:latin typeface="Arial"/>
            </a:endParaRPr>
          </a:p>
        </p:txBody>
      </p:sp>
      <p:sp>
        <p:nvSpPr>
          <p:cNvPr id="333" name="CustomShape 19"/>
          <p:cNvSpPr/>
          <p:nvPr/>
        </p:nvSpPr>
        <p:spPr>
          <a:xfrm flipH="1">
            <a:off x="3048480" y="2308320"/>
            <a:ext cx="2880" cy="502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4" name="CustomShape 20"/>
          <p:cNvSpPr/>
          <p:nvPr/>
        </p:nvSpPr>
        <p:spPr>
          <a:xfrm rot="16200000" flipH="1">
            <a:off x="2946240" y="4270320"/>
            <a:ext cx="1194120" cy="988560"/>
          </a:xfrm>
          <a:prstGeom prst="bentConnector2">
            <a:avLst/>
          </a:pr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5" name="CustomShape 21"/>
          <p:cNvSpPr/>
          <p:nvPr/>
        </p:nvSpPr>
        <p:spPr>
          <a:xfrm>
            <a:off x="4237560" y="3424680"/>
            <a:ext cx="719280" cy="44388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Climatology Excel spreadsheet</a:t>
            </a:r>
            <a:endParaRPr lang="en-AU" sz="700" b="0" strike="noStrike" spc="-1">
              <a:latin typeface="Arial"/>
            </a:endParaRPr>
          </a:p>
        </p:txBody>
      </p:sp>
      <p:sp>
        <p:nvSpPr>
          <p:cNvPr id="336" name="CustomShape 22"/>
          <p:cNvSpPr/>
          <p:nvPr/>
        </p:nvSpPr>
        <p:spPr>
          <a:xfrm>
            <a:off x="5699880" y="5136480"/>
            <a:ext cx="719280" cy="44388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u* results Excel spreadsheet</a:t>
            </a:r>
            <a:endParaRPr lang="en-AU" sz="700" b="0" strike="noStrike" spc="-1">
              <a:latin typeface="Arial"/>
            </a:endParaRPr>
          </a:p>
        </p:txBody>
      </p:sp>
      <p:sp>
        <p:nvSpPr>
          <p:cNvPr id="337" name="CustomShape 23"/>
          <p:cNvSpPr/>
          <p:nvPr/>
        </p:nvSpPr>
        <p:spPr>
          <a:xfrm flipV="1">
            <a:off x="3409200" y="3048840"/>
            <a:ext cx="647280" cy="924840"/>
          </a:xfrm>
          <a:prstGeom prst="bentConnector3">
            <a:avLst>
              <a:gd name="adj1" fmla="val 50000"/>
            </a:avLst>
          </a:pr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8" name="CustomShape 24"/>
          <p:cNvSpPr/>
          <p:nvPr/>
        </p:nvSpPr>
        <p:spPr>
          <a:xfrm flipV="1">
            <a:off x="3409200" y="3036240"/>
            <a:ext cx="2337480" cy="936720"/>
          </a:xfrm>
          <a:prstGeom prst="bentConnector3">
            <a:avLst>
              <a:gd name="adj1" fmla="val 86096"/>
            </a:avLst>
          </a:pr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9" name="CustomShape 25"/>
          <p:cNvSpPr/>
          <p:nvPr/>
        </p:nvSpPr>
        <p:spPr>
          <a:xfrm flipV="1">
            <a:off x="4957560" y="3036960"/>
            <a:ext cx="789480" cy="608400"/>
          </a:xfrm>
          <a:prstGeom prst="bentConnector3">
            <a:avLst>
              <a:gd name="adj1" fmla="val 58902"/>
            </a:avLst>
          </a:pr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0" name="CustomShape 26"/>
          <p:cNvSpPr/>
          <p:nvPr/>
        </p:nvSpPr>
        <p:spPr>
          <a:xfrm>
            <a:off x="4597560" y="3276000"/>
            <a:ext cx="360" cy="147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1" name="CustomShape 27"/>
          <p:cNvSpPr/>
          <p:nvPr/>
        </p:nvSpPr>
        <p:spPr>
          <a:xfrm>
            <a:off x="4194360" y="1955160"/>
            <a:ext cx="813960" cy="377640"/>
          </a:xfrm>
          <a:prstGeom prst="flowChartDocument">
            <a:avLst/>
          </a:prstGeom>
          <a:noFill/>
          <a:ln>
            <a:solidFill>
              <a:schemeClr val="accent1">
                <a:shade val="50000"/>
                <a:alpha val="50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Climatology</a:t>
            </a:r>
            <a:endParaRPr lang="en-AU" sz="7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Control file</a:t>
            </a:r>
            <a:endParaRPr lang="en-AU" sz="700" b="0" strike="noStrike" spc="-1">
              <a:latin typeface="Arial"/>
            </a:endParaRPr>
          </a:p>
        </p:txBody>
      </p:sp>
      <p:sp>
        <p:nvSpPr>
          <p:cNvPr id="342" name="CustomShape 28"/>
          <p:cNvSpPr/>
          <p:nvPr/>
        </p:nvSpPr>
        <p:spPr>
          <a:xfrm flipH="1">
            <a:off x="4596840" y="2308320"/>
            <a:ext cx="3600" cy="514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3" name="CustomShape 29"/>
          <p:cNvSpPr/>
          <p:nvPr/>
        </p:nvSpPr>
        <p:spPr>
          <a:xfrm flipV="1">
            <a:off x="5118480" y="5357880"/>
            <a:ext cx="569160" cy="3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4" name="CustomShape 30"/>
          <p:cNvSpPr/>
          <p:nvPr/>
        </p:nvSpPr>
        <p:spPr>
          <a:xfrm>
            <a:off x="4170960" y="4386960"/>
            <a:ext cx="813960" cy="377640"/>
          </a:xfrm>
          <a:prstGeom prst="flowChartDocument">
            <a:avLst/>
          </a:prstGeom>
          <a:noFill/>
          <a:ln>
            <a:solidFill>
              <a:schemeClr val="accent1">
                <a:shade val="50000"/>
                <a:alpha val="50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u* threshold</a:t>
            </a:r>
            <a:endParaRPr lang="en-AU" sz="7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AU" sz="700" b="0" strike="noStrike" spc="-1">
                <a:solidFill>
                  <a:srgbClr val="5D6B30"/>
                </a:solidFill>
                <a:latin typeface="Arial"/>
                <a:ea typeface="DejaVu Sans"/>
              </a:rPr>
              <a:t>Control file</a:t>
            </a:r>
            <a:endParaRPr lang="en-AU" sz="700" b="0" strike="noStrike" spc="-1">
              <a:latin typeface="Arial"/>
            </a:endParaRPr>
          </a:p>
        </p:txBody>
      </p:sp>
      <p:sp>
        <p:nvSpPr>
          <p:cNvPr id="345" name="CustomShape 31"/>
          <p:cNvSpPr/>
          <p:nvPr/>
        </p:nvSpPr>
        <p:spPr>
          <a:xfrm>
            <a:off x="4578480" y="4740480"/>
            <a:ext cx="360" cy="395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6" name="CustomShape 32"/>
          <p:cNvSpPr/>
          <p:nvPr/>
        </p:nvSpPr>
        <p:spPr>
          <a:xfrm>
            <a:off x="7081200" y="2775240"/>
            <a:ext cx="863280" cy="443880"/>
          </a:xfrm>
          <a:prstGeom prst="flowChartPreparation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To L5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347" name="CustomShape 33"/>
          <p:cNvSpPr/>
          <p:nvPr/>
        </p:nvSpPr>
        <p:spPr>
          <a:xfrm flipV="1">
            <a:off x="6359760" y="3000600"/>
            <a:ext cx="721080" cy="973080"/>
          </a:xfrm>
          <a:prstGeom prst="bentConnector3">
            <a:avLst>
              <a:gd name="adj1" fmla="val 50000"/>
            </a:avLst>
          </a:pr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8" name="CustomShape 34"/>
          <p:cNvSpPr/>
          <p:nvPr/>
        </p:nvSpPr>
        <p:spPr>
          <a:xfrm>
            <a:off x="3258720" y="6259680"/>
            <a:ext cx="664560" cy="377640"/>
          </a:xfrm>
          <a:prstGeom prst="flowChartDocument">
            <a:avLst/>
          </a:prstGeom>
          <a:noFill/>
          <a:ln>
            <a:solidFill>
              <a:schemeClr val="accent1">
                <a:shade val="50000"/>
                <a:alpha val="50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9" name="CustomShape 35"/>
          <p:cNvSpPr/>
          <p:nvPr/>
        </p:nvSpPr>
        <p:spPr>
          <a:xfrm>
            <a:off x="3255120" y="5815800"/>
            <a:ext cx="668160" cy="377640"/>
          </a:xfrm>
          <a:prstGeom prst="flowChartDocument">
            <a:avLst/>
          </a:prstGeom>
          <a:noFill/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0" name="CustomShape 36"/>
          <p:cNvSpPr/>
          <p:nvPr/>
        </p:nvSpPr>
        <p:spPr>
          <a:xfrm>
            <a:off x="4057200" y="5812200"/>
            <a:ext cx="19414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User supplied control file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351" name="CustomShape 37"/>
          <p:cNvSpPr/>
          <p:nvPr/>
        </p:nvSpPr>
        <p:spPr>
          <a:xfrm>
            <a:off x="4117680" y="6310440"/>
            <a:ext cx="1549080" cy="27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AU" sz="1200" b="0" strike="noStrike" spc="-1">
                <a:solidFill>
                  <a:srgbClr val="5D6B30"/>
                </a:solidFill>
                <a:latin typeface="Arial"/>
                <a:ea typeface="DejaVu Sans"/>
              </a:rPr>
              <a:t>Standard control file</a:t>
            </a:r>
            <a:endParaRPr lang="en-AU" sz="1200" b="0" strike="noStrike" spc="-1">
              <a:latin typeface="Arial"/>
            </a:endParaRPr>
          </a:p>
        </p:txBody>
      </p:sp>
      <p:sp>
        <p:nvSpPr>
          <p:cNvPr id="352" name="Line 38"/>
          <p:cNvSpPr/>
          <p:nvPr/>
        </p:nvSpPr>
        <p:spPr>
          <a:xfrm>
            <a:off x="2123640" y="1268640"/>
            <a:ext cx="0" cy="4176360"/>
          </a:xfrm>
          <a:prstGeom prst="line">
            <a:avLst/>
          </a:prstGeom>
          <a:ln w="25560">
            <a:solidFill>
              <a:srgbClr val="BC4B12"/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3" name="CustomShape 39"/>
          <p:cNvSpPr/>
          <p:nvPr/>
        </p:nvSpPr>
        <p:spPr>
          <a:xfrm>
            <a:off x="725040" y="1340640"/>
            <a:ext cx="12870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AU" sz="1800" b="0" strike="noStrike" spc="-1">
                <a:solidFill>
                  <a:srgbClr val="FF0000"/>
                </a:solidFill>
                <a:latin typeface="Arial"/>
                <a:ea typeface="DejaVu Sans"/>
              </a:rPr>
              <a:t>Yearly files</a:t>
            </a:r>
            <a:endParaRPr lang="en-AU" sz="1800" b="0" strike="noStrike" spc="-1">
              <a:latin typeface="Arial"/>
            </a:endParaRPr>
          </a:p>
        </p:txBody>
      </p:sp>
      <p:sp>
        <p:nvSpPr>
          <p:cNvPr id="354" name="CustomShape 40"/>
          <p:cNvSpPr/>
          <p:nvPr/>
        </p:nvSpPr>
        <p:spPr>
          <a:xfrm>
            <a:off x="2737800" y="1340640"/>
            <a:ext cx="21092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AU" sz="1800" b="0" strike="noStrike" spc="-1">
                <a:solidFill>
                  <a:srgbClr val="00B0F0"/>
                </a:solidFill>
                <a:latin typeface="Arial"/>
                <a:ea typeface="DejaVu Sans"/>
              </a:rPr>
              <a:t>Multiple year files</a:t>
            </a:r>
            <a:endParaRPr lang="en-AU" sz="1800" b="0" strike="noStrike" spc="-1">
              <a:latin typeface="Arial"/>
            </a:endParaRPr>
          </a:p>
        </p:txBody>
      </p:sp>
      <p:pic>
        <p:nvPicPr>
          <p:cNvPr id="355" name="Picture 46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  <p:sp>
        <p:nvSpPr>
          <p:cNvPr id="356" name="CustomShape 41"/>
          <p:cNvSpPr/>
          <p:nvPr/>
        </p:nvSpPr>
        <p:spPr>
          <a:xfrm flipV="1">
            <a:off x="6429600" y="3000960"/>
            <a:ext cx="651240" cy="2321280"/>
          </a:xfrm>
          <a:prstGeom prst="bentConnector3">
            <a:avLst>
              <a:gd name="adj1" fmla="val 45057"/>
            </a:avLst>
          </a:prstGeom>
          <a:noFill/>
          <a:ln>
            <a:solidFill>
              <a:srgbClr val="BC4B12"/>
            </a:solidFill>
            <a:round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000" b="0" strike="noStrike" spc="-1">
                <a:solidFill>
                  <a:srgbClr val="5D6B30"/>
                </a:solidFill>
                <a:latin typeface="Arial"/>
              </a:rPr>
              <a:t>Concatenate, climatology and u*</a:t>
            </a:r>
            <a:endParaRPr lang="en-AU" sz="4000" b="0" strike="noStrike" spc="-1">
              <a:latin typeface="Arial"/>
            </a:endParaRPr>
          </a:p>
        </p:txBody>
      </p:sp>
      <p:sp>
        <p:nvSpPr>
          <p:cNvPr id="358" name="CustomShape 2"/>
          <p:cNvSpPr/>
          <p:nvPr/>
        </p:nvSpPr>
        <p:spPr>
          <a:xfrm>
            <a:off x="539640" y="141264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9000"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Concatenate;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L1 to L3 typically use year or part-year files.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Single, multiple year file for L4 to L6.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Climatology;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Used as last resort in gap filling at L4.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Monthly and 2D interpolated.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u* threshold;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Reject biased Fc data prior to partitioning at L6.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Change point detection only.</a:t>
            </a:r>
            <a:endParaRPr lang="en-AU" sz="2800" b="0" strike="noStrike" spc="-1">
              <a:latin typeface="Arial"/>
            </a:endParaRPr>
          </a:p>
        </p:txBody>
      </p:sp>
      <p:pic>
        <p:nvPicPr>
          <p:cNvPr id="359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Gap Filling Data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361" name="CustomShape 2"/>
          <p:cNvSpPr/>
          <p:nvPr/>
        </p:nvSpPr>
        <p:spPr>
          <a:xfrm>
            <a:off x="683640" y="1268640"/>
            <a:ext cx="7488000" cy="4679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Do not need to gap fill data for process studies or model validation and parameterisation.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Do need to gap fill data when daily, monthly or annual sums are needed.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PyFluxPro uses a neural network or Marginal Distribution Sampling to gap fill fluxes using meteorological data as drivers (L5).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PyFluxPro uses data from alternate sources to gap fill meteorology (L4).</a:t>
            </a:r>
            <a:endParaRPr lang="en-AU" sz="2800" b="0" strike="noStrike" spc="-1">
              <a:latin typeface="Arial"/>
            </a:endParaRPr>
          </a:p>
        </p:txBody>
      </p:sp>
      <p:pic>
        <p:nvPicPr>
          <p:cNvPr id="362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L4 Details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364" name="CustomShape 2"/>
          <p:cNvSpPr/>
          <p:nvPr/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7000"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Gap filling meteorological quantities;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Need to gap fill meteorological drivers used to predict Fe, Fc and ER.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Radiation, temperature, humidity, wind speed, precipitation and soil moisture.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PyFluxPro uses 3 sources of alternate data;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Automated Weather Station (AWS) network e.g. the NOAA ISD archive.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The ECMWF Re-analysis (ERA5) archive.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Local numerical weather prediction models.</a:t>
            </a:r>
            <a:endParaRPr lang="en-AU" sz="2800" b="0" strike="noStrike" spc="-1">
              <a:latin typeface="Arial"/>
            </a:endParaRPr>
          </a:p>
        </p:txBody>
      </p:sp>
      <p:pic>
        <p:nvPicPr>
          <p:cNvPr id="365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L4 Details: NOAA ISD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367" name="CustomShape 2"/>
          <p:cNvSpPr/>
          <p:nvPr/>
        </p:nvSpPr>
        <p:spPr>
          <a:xfrm>
            <a:off x="797400" y="1556640"/>
            <a:ext cx="721044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63000"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Available from 1901 to present.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Basic meteorology available;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Ta, RH, WS, WD, Precip.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30 minute time step.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Provision to the community;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Python scripts available in PyFluxPro to download ISD stations near flux tower site, process these and reformat as netCDF files.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Pluses and minuses;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AWS data often fits tower data better than models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No radiation or soil data</a:t>
            </a:r>
            <a:endParaRPr lang="en-AU" sz="2800" b="0" strike="noStrike" spc="-1">
              <a:latin typeface="Arial"/>
            </a:endParaRPr>
          </a:p>
        </p:txBody>
      </p:sp>
      <p:pic>
        <p:nvPicPr>
          <p:cNvPr id="368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L4 Details: ERA5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370" name="CustomShape 2"/>
          <p:cNvSpPr/>
          <p:nvPr/>
        </p:nvSpPr>
        <p:spPr>
          <a:xfrm>
            <a:off x="683640" y="1556640"/>
            <a:ext cx="757044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51000"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Available from 1979 to present.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ERA5 available at ~30 km resolution globally.</a:t>
            </a:r>
            <a:endParaRPr lang="en-AU" sz="32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Use analysis fields (00, 12 UTC) plus forecast fields (03, 09, 15, 18 UTC).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Interpolation from 1 hour time step to time step of flux tower.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Radiation, meteorology and soil data;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Fsd, Fsu, Fld, Flu, Ta, RH, WS, WD, Precip, Sws, Ts, Fg.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Provision to the community;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Python scripts available in PyFluxPro to download ERA5 data for the flux tower site, process this and reformat as netCDF files..</a:t>
            </a:r>
            <a:endParaRPr lang="en-AU" sz="2800" b="0" strike="noStrike" spc="-1">
              <a:latin typeface="Arial"/>
            </a:endParaRPr>
          </a:p>
        </p:txBody>
      </p:sp>
      <p:pic>
        <p:nvPicPr>
          <p:cNvPr id="371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L5 Details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373" name="CustomShape 2"/>
          <p:cNvSpPr/>
          <p:nvPr/>
        </p:nvSpPr>
        <p:spPr>
          <a:xfrm>
            <a:off x="457200" y="1412640"/>
            <a:ext cx="8228880" cy="471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Gap filling of fluxes;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Need to gap fill Fe and Fc to get sums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PyFluxPro also gap fills Fh and u*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PyFluxPro uses a neural network to gap fill fluxes;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SOFM/SOLO neural network (Hsu et al 2002)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User specified drivers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User specified network parameters</a:t>
            </a:r>
            <a:endParaRPr lang="en-AU" sz="2800" b="0" strike="noStrike" spc="-1">
              <a:latin typeface="Arial"/>
            </a:endParaRPr>
          </a:p>
        </p:txBody>
      </p:sp>
      <p:pic>
        <p:nvPicPr>
          <p:cNvPr id="374" name="Picture 5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CustomShape 1"/>
          <p:cNvSpPr/>
          <p:nvPr/>
        </p:nvSpPr>
        <p:spPr>
          <a:xfrm>
            <a:off x="3132000" y="260640"/>
            <a:ext cx="3178080" cy="777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L6 Details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376" name="CustomShape 2"/>
          <p:cNvSpPr/>
          <p:nvPr/>
        </p:nvSpPr>
        <p:spPr>
          <a:xfrm>
            <a:off x="844560" y="1052640"/>
            <a:ext cx="7498440" cy="4896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Partitioning of NEE into GPP and ER;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u*-filter approaches;</a:t>
            </a:r>
            <a:endParaRPr lang="en-AU" sz="28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Use u*-filtered, nocturnal Fc to estimate ER.</a:t>
            </a:r>
            <a:endParaRPr lang="en-AU" sz="24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Between 5% and 20% left after applying u* filter to nocturnal data.</a:t>
            </a:r>
            <a:endParaRPr lang="en-AU" sz="24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Fit a function to u*-filtered, nocturnal Fc</a:t>
            </a:r>
            <a:endParaRPr lang="en-AU" sz="2400" b="0" strike="noStrike" spc="-1">
              <a:latin typeface="Arial"/>
            </a:endParaRPr>
          </a:p>
          <a:p>
            <a:pPr marL="1600200" lvl="3" indent="-227880">
              <a:lnSpc>
                <a:spcPct val="100000"/>
              </a:lnSpc>
              <a:spcBef>
                <a:spcPts val="400"/>
              </a:spcBef>
              <a:buClr>
                <a:srgbClr val="5D6B30"/>
              </a:buClr>
              <a:buFont typeface="Arial"/>
              <a:buChar char="–"/>
              <a:tabLst>
                <a:tab pos="0" algn="l"/>
              </a:tabLst>
            </a:pPr>
            <a:r>
              <a:rPr lang="en-AU" sz="2000" b="0" strike="noStrike" spc="-1">
                <a:solidFill>
                  <a:srgbClr val="5D6B30"/>
                </a:solidFill>
                <a:latin typeface="Arial"/>
              </a:rPr>
              <a:t>Neural network (SOFM/SOLO)</a:t>
            </a:r>
            <a:endParaRPr lang="en-AU" sz="2000" b="0" strike="noStrike" spc="-1">
              <a:latin typeface="Arial"/>
            </a:endParaRPr>
          </a:p>
          <a:p>
            <a:pPr marL="1600200" lvl="3" indent="-227880">
              <a:lnSpc>
                <a:spcPct val="100000"/>
              </a:lnSpc>
              <a:spcBef>
                <a:spcPts val="400"/>
              </a:spcBef>
              <a:buClr>
                <a:srgbClr val="5D6B30"/>
              </a:buClr>
              <a:buFont typeface="Arial"/>
              <a:buChar char="–"/>
              <a:tabLst>
                <a:tab pos="0" algn="l"/>
              </a:tabLst>
            </a:pPr>
            <a:r>
              <a:rPr lang="en-AU" sz="2000" b="0" strike="noStrike" spc="-1">
                <a:solidFill>
                  <a:srgbClr val="5D6B30"/>
                </a:solidFill>
                <a:latin typeface="Arial"/>
              </a:rPr>
              <a:t>Lloyd-Taylor (Arrhenius function)</a:t>
            </a:r>
            <a:endParaRPr lang="en-AU" sz="20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Lasslop et al (2010) approach;</a:t>
            </a:r>
            <a:endParaRPr lang="en-AU" sz="28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Avoids reliance on u*-filter approach</a:t>
            </a:r>
            <a:endParaRPr lang="en-AU" sz="24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User specified conditions for fit.</a:t>
            </a:r>
            <a:endParaRPr lang="en-AU" sz="24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en-AU" sz="24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tabLst>
                <a:tab pos="0" algn="l"/>
              </a:tabLst>
            </a:pPr>
            <a:endParaRPr lang="en-AU" sz="2400" b="0" strike="noStrike" spc="-1">
              <a:latin typeface="Arial"/>
            </a:endParaRPr>
          </a:p>
        </p:txBody>
      </p:sp>
      <p:pic>
        <p:nvPicPr>
          <p:cNvPr id="377" name="Picture 5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CustomShape 1"/>
          <p:cNvSpPr/>
          <p:nvPr/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AU" sz="4000" b="1" strike="noStrike" cap="all" spc="-1">
                <a:solidFill>
                  <a:srgbClr val="5D6B30"/>
                </a:solidFill>
                <a:latin typeface="Arial"/>
              </a:rPr>
              <a:t>pyFluxpro Plotting</a:t>
            </a:r>
            <a:endParaRPr lang="en-AU" sz="4000" b="0" strike="noStrike" spc="-1">
              <a:latin typeface="Arial"/>
            </a:endParaRPr>
          </a:p>
        </p:txBody>
      </p:sp>
      <p:sp>
        <p:nvSpPr>
          <p:cNvPr id="379" name="CustomShape 2"/>
          <p:cNvSpPr/>
          <p:nvPr/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CustomShape 1"/>
          <p:cNvSpPr/>
          <p:nvPr/>
        </p:nvSpPr>
        <p:spPr>
          <a:xfrm>
            <a:off x="323640" y="274680"/>
            <a:ext cx="8568360" cy="777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Plotting Data: L1 - L4 Time Series</a:t>
            </a:r>
            <a:endParaRPr lang="en-AU" sz="4400" b="0" strike="noStrike" spc="-1">
              <a:latin typeface="Arial"/>
            </a:endParaRPr>
          </a:p>
        </p:txBody>
      </p:sp>
      <p:pic>
        <p:nvPicPr>
          <p:cNvPr id="381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  <p:pic>
        <p:nvPicPr>
          <p:cNvPr id="382" name="Picture 5"/>
          <p:cNvPicPr/>
          <p:nvPr/>
        </p:nvPicPr>
        <p:blipFill>
          <a:blip r:embed="rId3"/>
          <a:stretch/>
        </p:blipFill>
        <p:spPr>
          <a:xfrm>
            <a:off x="899640" y="1161720"/>
            <a:ext cx="7197480" cy="5002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Plotting Data: 30 minute</a:t>
            </a:r>
            <a:endParaRPr lang="en-AU" sz="4400" b="0" strike="noStrike" spc="-1">
              <a:latin typeface="Arial"/>
            </a:endParaRPr>
          </a:p>
        </p:txBody>
      </p:sp>
      <p:pic>
        <p:nvPicPr>
          <p:cNvPr id="384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  <p:pic>
        <p:nvPicPr>
          <p:cNvPr id="385" name="Picture 6"/>
          <p:cNvPicPr/>
          <p:nvPr/>
        </p:nvPicPr>
        <p:blipFill>
          <a:blip r:embed="rId3"/>
          <a:stretch/>
        </p:blipFill>
        <p:spPr>
          <a:xfrm>
            <a:off x="974520" y="1215720"/>
            <a:ext cx="7053120" cy="4876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CustomShape 1"/>
          <p:cNvSpPr/>
          <p:nvPr/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Plotting Data: Fingerprints</a:t>
            </a:r>
            <a:endParaRPr lang="en-AU" sz="4400" b="0" strike="noStrike" spc="-1">
              <a:latin typeface="Arial"/>
            </a:endParaRPr>
          </a:p>
        </p:txBody>
      </p:sp>
      <p:pic>
        <p:nvPicPr>
          <p:cNvPr id="387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  <p:pic>
        <p:nvPicPr>
          <p:cNvPr id="388" name="Picture 5"/>
          <p:cNvPicPr/>
          <p:nvPr/>
        </p:nvPicPr>
        <p:blipFill>
          <a:blip r:embed="rId3"/>
          <a:stretch/>
        </p:blipFill>
        <p:spPr>
          <a:xfrm>
            <a:off x="893160" y="1224720"/>
            <a:ext cx="7422480" cy="496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CustomShape 1"/>
          <p:cNvSpPr/>
          <p:nvPr/>
        </p:nvSpPr>
        <p:spPr>
          <a:xfrm>
            <a:off x="683640" y="188640"/>
            <a:ext cx="38980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Plotting Data:</a:t>
            </a:r>
            <a:endParaRPr lang="en-AU" sz="4400" b="0" strike="noStrike" spc="-1">
              <a:latin typeface="Arial"/>
            </a:endParaRPr>
          </a:p>
        </p:txBody>
      </p:sp>
      <p:pic>
        <p:nvPicPr>
          <p:cNvPr id="390" name="Picture 4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  <p:pic>
        <p:nvPicPr>
          <p:cNvPr id="391" name="Picture 5"/>
          <p:cNvPicPr/>
          <p:nvPr/>
        </p:nvPicPr>
        <p:blipFill>
          <a:blip r:embed="rId3"/>
          <a:stretch/>
        </p:blipFill>
        <p:spPr>
          <a:xfrm>
            <a:off x="6235560" y="25200"/>
            <a:ext cx="2905920" cy="2905920"/>
          </a:xfrm>
          <a:prstGeom prst="rect">
            <a:avLst/>
          </a:prstGeom>
          <a:ln>
            <a:noFill/>
          </a:ln>
        </p:spPr>
      </p:pic>
      <p:pic>
        <p:nvPicPr>
          <p:cNvPr id="392" name="Picture 6"/>
          <p:cNvPicPr/>
          <p:nvPr/>
        </p:nvPicPr>
        <p:blipFill>
          <a:blip r:embed="rId4"/>
          <a:stretch/>
        </p:blipFill>
        <p:spPr>
          <a:xfrm>
            <a:off x="3160080" y="2746440"/>
            <a:ext cx="5985360" cy="4138200"/>
          </a:xfrm>
          <a:prstGeom prst="rect">
            <a:avLst/>
          </a:prstGeom>
          <a:ln>
            <a:noFill/>
          </a:ln>
        </p:spPr>
      </p:pic>
      <p:pic>
        <p:nvPicPr>
          <p:cNvPr id="393" name="Picture 7"/>
          <p:cNvPicPr/>
          <p:nvPr/>
        </p:nvPicPr>
        <p:blipFill>
          <a:blip r:embed="rId5"/>
          <a:stretch/>
        </p:blipFill>
        <p:spPr>
          <a:xfrm>
            <a:off x="107640" y="1196640"/>
            <a:ext cx="3335400" cy="4823640"/>
          </a:xfrm>
          <a:prstGeom prst="rect">
            <a:avLst/>
          </a:prstGeom>
          <a:ln>
            <a:noFill/>
          </a:ln>
        </p:spPr>
      </p:pic>
      <p:sp>
        <p:nvSpPr>
          <p:cNvPr id="394" name="CustomShape 2"/>
          <p:cNvSpPr/>
          <p:nvPr/>
        </p:nvSpPr>
        <p:spPr>
          <a:xfrm>
            <a:off x="3299760" y="1478520"/>
            <a:ext cx="2882520" cy="71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3600" b="0" strike="noStrike" spc="-1">
                <a:solidFill>
                  <a:srgbClr val="5D6B30"/>
                </a:solidFill>
                <a:latin typeface="Arial"/>
                <a:ea typeface="DejaVu Sans"/>
              </a:rPr>
              <a:t>L3 Summary</a:t>
            </a:r>
            <a:endParaRPr lang="en-AU" sz="3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CustomShape 1"/>
          <p:cNvSpPr/>
          <p:nvPr/>
        </p:nvSpPr>
        <p:spPr>
          <a:xfrm>
            <a:off x="1115640" y="274680"/>
            <a:ext cx="6984000" cy="777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Plotting Data: L6 Summary</a:t>
            </a:r>
            <a:endParaRPr lang="en-AU" sz="4400" b="0" strike="noStrike" spc="-1">
              <a:latin typeface="Arial"/>
            </a:endParaRPr>
          </a:p>
        </p:txBody>
      </p:sp>
      <p:pic>
        <p:nvPicPr>
          <p:cNvPr id="396" name="Picture 3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  <p:pic>
        <p:nvPicPr>
          <p:cNvPr id="397" name="Picture 4"/>
          <p:cNvPicPr/>
          <p:nvPr/>
        </p:nvPicPr>
        <p:blipFill>
          <a:blip r:embed="rId3"/>
          <a:stretch/>
        </p:blipFill>
        <p:spPr>
          <a:xfrm>
            <a:off x="0" y="1556640"/>
            <a:ext cx="5147280" cy="1315080"/>
          </a:xfrm>
          <a:prstGeom prst="rect">
            <a:avLst/>
          </a:prstGeom>
          <a:ln>
            <a:noFill/>
          </a:ln>
        </p:spPr>
      </p:pic>
      <p:pic>
        <p:nvPicPr>
          <p:cNvPr id="398" name="Picture 5"/>
          <p:cNvPicPr/>
          <p:nvPr/>
        </p:nvPicPr>
        <p:blipFill>
          <a:blip r:embed="rId4"/>
          <a:stretch/>
        </p:blipFill>
        <p:spPr>
          <a:xfrm>
            <a:off x="0" y="2874240"/>
            <a:ext cx="5158440" cy="1317960"/>
          </a:xfrm>
          <a:prstGeom prst="rect">
            <a:avLst/>
          </a:prstGeom>
          <a:ln>
            <a:noFill/>
          </a:ln>
        </p:spPr>
      </p:pic>
      <p:pic>
        <p:nvPicPr>
          <p:cNvPr id="399" name="Picture 6"/>
          <p:cNvPicPr/>
          <p:nvPr/>
        </p:nvPicPr>
        <p:blipFill>
          <a:blip r:embed="rId5"/>
          <a:stretch/>
        </p:blipFill>
        <p:spPr>
          <a:xfrm>
            <a:off x="5050440" y="1556640"/>
            <a:ext cx="4083480" cy="4083480"/>
          </a:xfrm>
          <a:prstGeom prst="rect">
            <a:avLst/>
          </a:prstGeom>
          <a:ln>
            <a:noFill/>
          </a:ln>
        </p:spPr>
      </p:pic>
      <p:pic>
        <p:nvPicPr>
          <p:cNvPr id="400" name="Picture 7"/>
          <p:cNvPicPr/>
          <p:nvPr/>
        </p:nvPicPr>
        <p:blipFill>
          <a:blip r:embed="rId6"/>
          <a:stretch/>
        </p:blipFill>
        <p:spPr>
          <a:xfrm>
            <a:off x="13320" y="4198680"/>
            <a:ext cx="5158440" cy="13179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CustomShape 1"/>
          <p:cNvSpPr/>
          <p:nvPr/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AU" sz="4000" b="1" strike="noStrike" cap="all" spc="-1">
                <a:solidFill>
                  <a:srgbClr val="5D6B30"/>
                </a:solidFill>
                <a:latin typeface="Arial"/>
              </a:rPr>
              <a:t>File conversion</a:t>
            </a:r>
            <a:endParaRPr lang="en-AU" sz="4000" b="0" strike="noStrike" spc="-1">
              <a:latin typeface="Arial"/>
            </a:endParaRPr>
          </a:p>
        </p:txBody>
      </p:sp>
      <p:sp>
        <p:nvSpPr>
          <p:cNvPr id="402" name="CustomShape 2"/>
          <p:cNvSpPr/>
          <p:nvPr/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03" name="Picture 6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CustomShape 1"/>
          <p:cNvSpPr/>
          <p:nvPr/>
        </p:nvSpPr>
        <p:spPr>
          <a:xfrm>
            <a:off x="457200" y="260640"/>
            <a:ext cx="8228880" cy="705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Input Files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405" name="CustomShape 2"/>
          <p:cNvSpPr/>
          <p:nvPr/>
        </p:nvSpPr>
        <p:spPr>
          <a:xfrm>
            <a:off x="457200" y="980640"/>
            <a:ext cx="8228880" cy="5144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XLS or CSV files;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Used at L1 and converted to PyFluxPro netCDF.</a:t>
            </a:r>
            <a:endParaRPr lang="en-AU" sz="28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AU" sz="3200" b="0" strike="noStrike" spc="-1">
                <a:solidFill>
                  <a:srgbClr val="BD4E17"/>
                </a:solidFill>
                <a:latin typeface="Arial"/>
              </a:rPr>
              <a:t>PyFluxPro netCDF files;</a:t>
            </a:r>
            <a:endParaRPr lang="en-AU" sz="32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Internal used at all levels.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Can be from external source at L4;</a:t>
            </a:r>
            <a:endParaRPr lang="en-AU" sz="28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ISD, ERAI and local NWP.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561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800" b="0" strike="noStrike" spc="-1">
                <a:solidFill>
                  <a:srgbClr val="41648E"/>
                </a:solidFill>
                <a:latin typeface="Arial"/>
              </a:rPr>
              <a:t>Can be from external source at L4, L5 and L6;</a:t>
            </a:r>
            <a:endParaRPr lang="en-AU" sz="28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Through the [Imports] key in control file.</a:t>
            </a:r>
            <a:endParaRPr lang="en-AU" sz="24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79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400" b="0" strike="noStrike" spc="-1">
                <a:solidFill>
                  <a:srgbClr val="5D6B30"/>
                </a:solidFill>
                <a:latin typeface="Arial"/>
              </a:rPr>
              <a:t>EddyPro, REddyPro files once converted to PyFluxPro netCDF (utilities provided).</a:t>
            </a:r>
            <a:endParaRPr lang="en-AU" sz="2400" b="0" strike="noStrike" spc="-1">
              <a:latin typeface="Arial"/>
            </a:endParaRPr>
          </a:p>
        </p:txBody>
      </p:sp>
      <p:pic>
        <p:nvPicPr>
          <p:cNvPr id="406" name="Picture 7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CustomShape 1"/>
          <p:cNvSpPr/>
          <p:nvPr/>
        </p:nvSpPr>
        <p:spPr>
          <a:xfrm>
            <a:off x="2771640" y="260640"/>
            <a:ext cx="3383640" cy="777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AU" sz="4400" b="0" strike="noStrike" spc="-1">
                <a:solidFill>
                  <a:srgbClr val="5D6B30"/>
                </a:solidFill>
                <a:latin typeface="Arial"/>
              </a:rPr>
              <a:t>Output Files</a:t>
            </a:r>
            <a:endParaRPr lang="en-AU" sz="4400" b="0" strike="noStrike" spc="-1">
              <a:latin typeface="Arial"/>
            </a:endParaRPr>
          </a:p>
        </p:txBody>
      </p:sp>
      <p:sp>
        <p:nvSpPr>
          <p:cNvPr id="408" name="CustomShape 2"/>
          <p:cNvSpPr/>
          <p:nvPr/>
        </p:nvSpPr>
        <p:spPr>
          <a:xfrm>
            <a:off x="755640" y="1412640"/>
            <a:ext cx="7498440" cy="424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PyFluxPro netCDF file.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Can be read in Python, MATLAB, R, IDL etc</a:t>
            </a:r>
            <a:endParaRPr lang="en-AU" sz="24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Excel spreadsheet;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“File/Convert/nc to xls” menu option.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Saves attributes, data and QC flags.</a:t>
            </a:r>
            <a:endParaRPr lang="en-AU" sz="2400" b="0" strike="noStrike" spc="-1">
              <a:latin typeface="Arial"/>
            </a:endParaRPr>
          </a:p>
          <a:p>
            <a:pPr marL="343080" indent="-3423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AU" sz="2800" b="0" strike="noStrike" spc="-1">
                <a:solidFill>
                  <a:srgbClr val="BD4E17"/>
                </a:solidFill>
                <a:latin typeface="Arial"/>
              </a:rPr>
              <a:t>Specialist formats;</a:t>
            </a:r>
            <a:endParaRPr lang="en-AU" sz="28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FluxNet CSV file for submission to FluxNet.</a:t>
            </a:r>
            <a:endParaRPr lang="en-AU" sz="2400" b="0" strike="noStrike" spc="-1">
              <a:latin typeface="Arial"/>
            </a:endParaRPr>
          </a:p>
          <a:p>
            <a:pPr marL="743040" lvl="1" indent="-285120">
              <a:lnSpc>
                <a:spcPct val="100000"/>
              </a:lnSpc>
              <a:spcBef>
                <a:spcPts val="479"/>
              </a:spcBef>
              <a:buClr>
                <a:srgbClr val="41648E"/>
              </a:buClr>
              <a:buFont typeface="Arial"/>
              <a:buChar char="•"/>
              <a:tabLst>
                <a:tab pos="0" algn="l"/>
              </a:tabLst>
            </a:pPr>
            <a:r>
              <a:rPr lang="en-AU" sz="2400" b="0" strike="noStrike" spc="-1">
                <a:solidFill>
                  <a:srgbClr val="41648E"/>
                </a:solidFill>
                <a:latin typeface="Arial"/>
              </a:rPr>
              <a:t>REddyProc CSV file for use with REddyProc.</a:t>
            </a:r>
            <a:endParaRPr lang="en-AU" sz="2400" b="0" strike="noStrike" spc="-1">
              <a:latin typeface="Arial"/>
            </a:endParaRPr>
          </a:p>
          <a:p>
            <a:pPr marL="1143000" lvl="2" indent="-227880">
              <a:lnSpc>
                <a:spcPct val="100000"/>
              </a:lnSpc>
              <a:spcBef>
                <a:spcPts val="400"/>
              </a:spcBef>
              <a:buClr>
                <a:srgbClr val="5D6B30"/>
              </a:buClr>
              <a:buSzPct val="60000"/>
              <a:buFont typeface="Wingdings" charset="2"/>
              <a:buChar char=""/>
              <a:tabLst>
                <a:tab pos="0" algn="l"/>
              </a:tabLst>
            </a:pPr>
            <a:r>
              <a:rPr lang="en-AU" sz="2000" b="0" strike="noStrike" spc="-1">
                <a:solidFill>
                  <a:srgbClr val="5D6B30"/>
                </a:solidFill>
                <a:latin typeface="Arial"/>
              </a:rPr>
              <a:t>Re-format L3 data for use with on-line tool or R scripts.</a:t>
            </a:r>
            <a:endParaRPr lang="en-AU" sz="2000" b="0" strike="noStrike" spc="-1">
              <a:latin typeface="Arial"/>
            </a:endParaRPr>
          </a:p>
        </p:txBody>
      </p:sp>
      <p:pic>
        <p:nvPicPr>
          <p:cNvPr id="409" name="Picture 7"/>
          <p:cNvPicPr/>
          <p:nvPr/>
        </p:nvPicPr>
        <p:blipFill>
          <a:blip r:embed="rId2"/>
          <a:stretch/>
        </p:blipFill>
        <p:spPr>
          <a:xfrm>
            <a:off x="827640" y="6165360"/>
            <a:ext cx="1149120" cy="57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1648E"/>
      </a:dk2>
      <a:lt2>
        <a:srgbClr val="BD4E17"/>
      </a:lt2>
      <a:accent1>
        <a:srgbClr val="BD4E17"/>
      </a:accent1>
      <a:accent2>
        <a:srgbClr val="41648E"/>
      </a:accent2>
      <a:accent3>
        <a:srgbClr val="41648E"/>
      </a:accent3>
      <a:accent4>
        <a:srgbClr val="BD4E17"/>
      </a:accent4>
      <a:accent5>
        <a:srgbClr val="A1B28E"/>
      </a:accent5>
      <a:accent6>
        <a:srgbClr val="C27415"/>
      </a:accent6>
      <a:hlink>
        <a:srgbClr val="616B30"/>
      </a:hlink>
      <a:folHlink>
        <a:srgbClr val="A1B2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1648E"/>
      </a:dk2>
      <a:lt2>
        <a:srgbClr val="BD4E17"/>
      </a:lt2>
      <a:accent1>
        <a:srgbClr val="BD4E17"/>
      </a:accent1>
      <a:accent2>
        <a:srgbClr val="41648E"/>
      </a:accent2>
      <a:accent3>
        <a:srgbClr val="41648E"/>
      </a:accent3>
      <a:accent4>
        <a:srgbClr val="BD4E17"/>
      </a:accent4>
      <a:accent5>
        <a:srgbClr val="A1B28E"/>
      </a:accent5>
      <a:accent6>
        <a:srgbClr val="C27415"/>
      </a:accent6>
      <a:hlink>
        <a:srgbClr val="616B30"/>
      </a:hlink>
      <a:folHlink>
        <a:srgbClr val="A1B2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1648E"/>
      </a:dk2>
      <a:lt2>
        <a:srgbClr val="BD4E17"/>
      </a:lt2>
      <a:accent1>
        <a:srgbClr val="BD4E17"/>
      </a:accent1>
      <a:accent2>
        <a:srgbClr val="41648E"/>
      </a:accent2>
      <a:accent3>
        <a:srgbClr val="41648E"/>
      </a:accent3>
      <a:accent4>
        <a:srgbClr val="BD4E17"/>
      </a:accent4>
      <a:accent5>
        <a:srgbClr val="A1B28E"/>
      </a:accent5>
      <a:accent6>
        <a:srgbClr val="C27415"/>
      </a:accent6>
      <a:hlink>
        <a:srgbClr val="616B30"/>
      </a:hlink>
      <a:folHlink>
        <a:srgbClr val="A1B2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1648E"/>
      </a:dk2>
      <a:lt2>
        <a:srgbClr val="BD4E17"/>
      </a:lt2>
      <a:accent1>
        <a:srgbClr val="BD4E17"/>
      </a:accent1>
      <a:accent2>
        <a:srgbClr val="41648E"/>
      </a:accent2>
      <a:accent3>
        <a:srgbClr val="41648E"/>
      </a:accent3>
      <a:accent4>
        <a:srgbClr val="BD4E17"/>
      </a:accent4>
      <a:accent5>
        <a:srgbClr val="A1B28E"/>
      </a:accent5>
      <a:accent6>
        <a:srgbClr val="C27415"/>
      </a:accent6>
      <a:hlink>
        <a:srgbClr val="616B30"/>
      </a:hlink>
      <a:folHlink>
        <a:srgbClr val="A1B28E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TERN-OzFlux</Template>
  <TotalTime>1896</TotalTime>
  <Words>1544</Words>
  <Application>Microsoft Office PowerPoint</Application>
  <PresentationFormat>On-screen Show (4:3)</PresentationFormat>
  <Paragraphs>305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Symbol</vt:lpstr>
      <vt:lpstr>Wingdings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OzFluxQC</dc:title>
  <dc:subject/>
  <dc:creator>peter</dc:creator>
  <dc:description/>
  <cp:lastModifiedBy>Riyadh Shihab Hameed Al-Naseri</cp:lastModifiedBy>
  <cp:revision>141</cp:revision>
  <dcterms:created xsi:type="dcterms:W3CDTF">2015-11-06T05:52:37Z</dcterms:created>
  <dcterms:modified xsi:type="dcterms:W3CDTF">2024-05-02T01:58:42Z</dcterms:modified>
  <dc:language>en-AU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35</vt:i4>
  </property>
</Properties>
</file>